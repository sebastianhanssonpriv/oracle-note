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869680" y="-1463040"/>
            <a:ext cx="4023360" cy="4023360"/>
          </a:xfrm>
          <a:prstGeom prst="ellipse">
            <a:avLst/>
          </a:prstGeom>
          <a:solidFill>
            <a:srgbClr val="141B4D"/>
          </a:solidFill>
          <a:ln/>
        </p:spPr>
      </p:sp>
      <p:sp>
        <p:nvSpPr>
          <p:cNvPr id="3" name="Shape 1"/>
          <p:cNvSpPr/>
          <p:nvPr/>
        </p:nvSpPr>
        <p:spPr>
          <a:xfrm>
            <a:off x="-1645920" y="4480560"/>
            <a:ext cx="3291840" cy="3291840"/>
          </a:xfrm>
          <a:prstGeom prst="ellipse">
            <a:avLst/>
          </a:prstGeom>
          <a:solidFill>
            <a:srgbClr val="141B4D"/>
          </a:solidFill>
          <a:ln/>
        </p:spPr>
      </p:sp>
      <p:sp>
        <p:nvSpPr>
          <p:cNvPr id="4" name="Shape 2"/>
          <p:cNvSpPr/>
          <p:nvPr/>
        </p:nvSpPr>
        <p:spPr>
          <a:xfrm>
            <a:off x="822960" y="960120"/>
            <a:ext cx="822960" cy="822960"/>
          </a:xfrm>
          <a:prstGeom prst="ellipse">
            <a:avLst/>
          </a:prstGeom>
          <a:solidFill>
            <a:srgbClr val="141B4D"/>
          </a:solidFill>
          <a:ln/>
        </p:spPr>
      </p:sp>
      <p:pic>
        <p:nvPicPr>
          <p:cNvPr id="5" name="Image 0" descr="/home/claude/icons/FaLandmark.png">    </p:cNvPr>
          <p:cNvPicPr>
            <a:picLocks noChangeAspect="1"/>
          </p:cNvPicPr>
          <p:nvPr/>
        </p:nvPicPr>
        <p:blipFill>
          <a:blip r:embed="rId1"/>
          <a:stretch>
            <a:fillRect/>
          </a:stretch>
        </p:blipFill>
        <p:spPr>
          <a:xfrm>
            <a:off x="1020470" y="1157630"/>
            <a:ext cx="427939" cy="427939"/>
          </a:xfrm>
          <a:prstGeom prst="rect">
            <a:avLst/>
          </a:prstGeom>
        </p:spPr>
      </p:pic>
      <p:sp>
        <p:nvSpPr>
          <p:cNvPr id="6" name="Text 3"/>
          <p:cNvSpPr/>
          <p:nvPr/>
        </p:nvSpPr>
        <p:spPr>
          <a:xfrm>
            <a:off x="640080" y="2331720"/>
            <a:ext cx="10515600" cy="1005840"/>
          </a:xfrm>
          <a:prstGeom prst="rect">
            <a:avLst/>
          </a:prstGeom>
          <a:noFill/>
          <a:ln/>
        </p:spPr>
        <p:txBody>
          <a:bodyPr wrap="square" lIns="0" tIns="0" rIns="0" bIns="0" rtlCol="0" anchor="ctr"/>
          <a:lstStyle/>
          <a:p>
            <a:pPr indent="0" marL="0">
              <a:buNone/>
            </a:pPr>
            <a:r>
              <a:rPr lang="en-US" sz="5400" b="1" spc="300" kern="0" dirty="0">
                <a:solidFill>
                  <a:srgbClr val="FFFFFF"/>
                </a:solidFill>
                <a:latin typeface="Cambria" pitchFamily="34" charset="0"/>
                <a:ea typeface="Cambria" pitchFamily="34" charset="-122"/>
                <a:cs typeface="Cambria" pitchFamily="34" charset="-120"/>
              </a:rPr>
              <a:t>ORACLE NOTE</a:t>
            </a:r>
            <a:endParaRPr lang="en-US" sz="5400" dirty="0"/>
          </a:p>
        </p:txBody>
      </p:sp>
      <p:sp>
        <p:nvSpPr>
          <p:cNvPr id="7" name="Text 4"/>
          <p:cNvSpPr/>
          <p:nvPr/>
        </p:nvSpPr>
        <p:spPr>
          <a:xfrm>
            <a:off x="685800" y="3291840"/>
            <a:ext cx="10515600" cy="50292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AI-Assisted Sales Debrief Capture</a:t>
            </a:r>
            <a:endParaRPr lang="en-US" sz="2000" dirty="0"/>
          </a:p>
        </p:txBody>
      </p:sp>
      <p:sp>
        <p:nvSpPr>
          <p:cNvPr id="8" name="Text 5"/>
          <p:cNvSpPr/>
          <p:nvPr/>
        </p:nvSpPr>
        <p:spPr>
          <a:xfrm>
            <a:off x="685800" y="3703320"/>
            <a:ext cx="10515600" cy="45720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Concept Architecture Proposal</a:t>
            </a:r>
            <a:endParaRPr lang="en-US" sz="2000" dirty="0"/>
          </a:p>
        </p:txBody>
      </p:sp>
      <p:sp>
        <p:nvSpPr>
          <p:cNvPr id="9" name="Shape 6"/>
          <p:cNvSpPr/>
          <p:nvPr/>
        </p:nvSpPr>
        <p:spPr>
          <a:xfrm>
            <a:off x="713232" y="4434840"/>
            <a:ext cx="2194560" cy="0"/>
          </a:xfrm>
          <a:prstGeom prst="line">
            <a:avLst/>
          </a:prstGeom>
          <a:noFill/>
          <a:ln w="25400">
            <a:solidFill>
              <a:srgbClr val="C9A227"/>
            </a:solidFill>
            <a:prstDash val="solid"/>
          </a:ln>
        </p:spPr>
      </p:sp>
      <p:sp>
        <p:nvSpPr>
          <p:cNvPr id="10" name="Text 7"/>
          <p:cNvSpPr/>
          <p:nvPr/>
        </p:nvSpPr>
        <p:spPr>
          <a:xfrm>
            <a:off x="685800" y="4617720"/>
            <a:ext cx="9601200" cy="457200"/>
          </a:xfrm>
          <a:prstGeom prst="rect">
            <a:avLst/>
          </a:prstGeom>
          <a:noFill/>
          <a:ln/>
        </p:spPr>
        <p:txBody>
          <a:bodyPr wrap="square" lIns="0" tIns="0" rIns="0" bIns="0" rtlCol="0" anchor="ctr"/>
          <a:lstStyle/>
          <a:p>
            <a:pPr indent="0" marL="0">
              <a:buNone/>
            </a:pPr>
            <a:r>
              <a:rPr lang="en-US" sz="1400" i="1" dirty="0">
                <a:solidFill>
                  <a:srgbClr val="C9A227"/>
                </a:solidFill>
                <a:latin typeface="Calibri" pitchFamily="34" charset="0"/>
                <a:ea typeface="Calibri" pitchFamily="34" charset="-122"/>
                <a:cs typeface="Calibri" pitchFamily="34" charset="-120"/>
              </a:rPr>
              <a:t>Governance and maintainability are the constraint. Budget and effort are not.</a:t>
            </a:r>
            <a:endParaRPr lang="en-US" sz="1400" dirty="0"/>
          </a:p>
        </p:txBody>
      </p:sp>
      <p:sp>
        <p:nvSpPr>
          <p:cNvPr id="11" name="Text 8"/>
          <p:cNvSpPr/>
          <p:nvPr/>
        </p:nvSpPr>
        <p:spPr>
          <a:xfrm>
            <a:off x="685800" y="6172200"/>
            <a:ext cx="9601200" cy="365760"/>
          </a:xfrm>
          <a:prstGeom prst="rect">
            <a:avLst/>
          </a:prstGeom>
          <a:noFill/>
          <a:ln/>
        </p:spPr>
        <p:txBody>
          <a:bodyPr wrap="square" lIns="0" tIns="0" rIns="0" bIns="0" rtlCol="0" anchor="ctr"/>
          <a:lstStyle/>
          <a:p>
            <a:pPr indent="0" marL="0">
              <a:buNone/>
            </a:pPr>
            <a:r>
              <a:rPr lang="en-US" sz="1100" dirty="0">
                <a:solidFill>
                  <a:srgbClr val="A9B6D9"/>
                </a:solidFill>
                <a:latin typeface="Calibri" pitchFamily="34" charset="0"/>
                <a:ea typeface="Calibri" pitchFamily="34" charset="-122"/>
                <a:cs typeface="Calibri" pitchFamily="34" charset="-120"/>
              </a:rPr>
              <a:t>Internal concept paper, prepared for discussion with sales leadership. Not yet scoped or funded.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594360"/>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Executive Summary</a:t>
            </a:r>
            <a:endParaRPr lang="en-US" sz="2800" dirty="0"/>
          </a:p>
        </p:txBody>
      </p:sp>
      <p:sp>
        <p:nvSpPr>
          <p:cNvPr id="3" name="Shape 1"/>
          <p:cNvSpPr/>
          <p:nvPr/>
        </p:nvSpPr>
        <p:spPr>
          <a:xfrm>
            <a:off x="548640" y="1234440"/>
            <a:ext cx="5257800" cy="4160520"/>
          </a:xfrm>
          <a:prstGeom prst="roundRect">
            <a:avLst>
              <a:gd name="adj" fmla="val 1758"/>
            </a:avLst>
          </a:prstGeom>
          <a:solidFill>
            <a:srgbClr val="F4F6FB"/>
          </a:solidFill>
          <a:ln w="9525">
            <a:solidFill>
              <a:srgbClr val="DCE3F0"/>
            </a:solidFill>
            <a:prstDash val="solid"/>
          </a:ln>
          <a:effectLst>
            <a:outerShdw sx="100000" sy="100000" kx="0" ky="0" algn="bl" rotWithShape="0" blurRad="76200" dist="25400" dir="5400000">
              <a:srgbClr val="1E2761">
                <a:alpha val="12000"/>
              </a:srgbClr>
            </a:outerShdw>
          </a:effectLst>
        </p:spPr>
      </p:sp>
      <p:sp>
        <p:nvSpPr>
          <p:cNvPr id="4" name="Shape 2"/>
          <p:cNvSpPr/>
          <p:nvPr/>
        </p:nvSpPr>
        <p:spPr>
          <a:xfrm>
            <a:off x="800100" y="1485900"/>
            <a:ext cx="502920" cy="502920"/>
          </a:xfrm>
          <a:prstGeom prst="ellipse">
            <a:avLst/>
          </a:prstGeom>
          <a:solidFill>
            <a:srgbClr val="1E2761"/>
          </a:solidFill>
          <a:ln/>
        </p:spPr>
      </p:sp>
      <p:pic>
        <p:nvPicPr>
          <p:cNvPr id="5" name="Image 0" descr="/home/claude/icons/FaCircleExclamation.png">    </p:cNvPr>
          <p:cNvPicPr>
            <a:picLocks noChangeAspect="1"/>
          </p:cNvPicPr>
          <p:nvPr/>
        </p:nvPicPr>
        <p:blipFill>
          <a:blip r:embed="rId1"/>
          <a:stretch>
            <a:fillRect/>
          </a:stretch>
        </p:blipFill>
        <p:spPr>
          <a:xfrm>
            <a:off x="920801" y="1606601"/>
            <a:ext cx="261518" cy="261518"/>
          </a:xfrm>
          <a:prstGeom prst="rect">
            <a:avLst/>
          </a:prstGeom>
        </p:spPr>
      </p:pic>
      <p:sp>
        <p:nvSpPr>
          <p:cNvPr id="6" name="Text 3"/>
          <p:cNvSpPr/>
          <p:nvPr/>
        </p:nvSpPr>
        <p:spPr>
          <a:xfrm>
            <a:off x="1417320" y="1490472"/>
            <a:ext cx="4160520" cy="50292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The Problem</a:t>
            </a:r>
            <a:endParaRPr lang="en-US" sz="1700" dirty="0"/>
          </a:p>
        </p:txBody>
      </p:sp>
      <p:sp>
        <p:nvSpPr>
          <p:cNvPr id="7" name="Text 4"/>
          <p:cNvSpPr/>
          <p:nvPr/>
        </p:nvSpPr>
        <p:spPr>
          <a:xfrm>
            <a:off x="914400" y="2194560"/>
            <a:ext cx="4526280" cy="3063240"/>
          </a:xfrm>
          <a:prstGeom prst="rect">
            <a:avLst/>
          </a:prstGeom>
          <a:noFill/>
          <a:ln/>
        </p:spPr>
        <p:txBody>
          <a:bodyPr wrap="square" lIns="0" tIns="0" rIns="0" bIns="0" rtlCol="0" anchor="t"/>
          <a:lstStyle/>
          <a:p>
            <a:pPr marL="177800" indent="-177800">
              <a:lnSpc>
                <a:spcPct val="108000"/>
              </a:lnSpc>
              <a:spcAft>
                <a:spcPts val="800"/>
              </a:spcAft>
              <a:buSzPct val="100000"/>
              <a:buChar char="•"/>
            </a:pPr>
            <a:r>
              <a:rPr lang="en-US" sz="1300" dirty="0">
                <a:solidFill>
                  <a:srgbClr val="333333"/>
                </a:solidFill>
                <a:latin typeface="Calibri" pitchFamily="34" charset="0"/>
                <a:ea typeface="Calibri" pitchFamily="34" charset="-122"/>
                <a:cs typeface="Calibri" pitchFamily="34" charset="-120"/>
              </a:rPr>
              <a:t>Sales meeting knowledge is rarely captured. Most of it stays in the salesperson’s head.</a:t>
            </a:r>
            <a:endParaRPr lang="en-US" sz="1300" dirty="0"/>
          </a:p>
          <a:p>
            <a:pPr marL="177800" indent="-177800">
              <a:lnSpc>
                <a:spcPct val="108000"/>
              </a:lnSpc>
              <a:spcAft>
                <a:spcPts val="800"/>
              </a:spcAft>
              <a:buSzPct val="100000"/>
              <a:buChar char="•"/>
            </a:pPr>
            <a:r>
              <a:rPr lang="en-US" sz="1300" dirty="0">
                <a:solidFill>
                  <a:srgbClr val="333333"/>
                </a:solidFill>
                <a:latin typeface="Calibri" pitchFamily="34" charset="0"/>
                <a:ea typeface="Calibri" pitchFamily="34" charset="-122"/>
                <a:cs typeface="Calibri" pitchFamily="34" charset="-120"/>
              </a:rPr>
              <a:t>No structured post-meeting notes exist in the CRM today. Notes are, in practice, absent.</a:t>
            </a:r>
            <a:endParaRPr lang="en-US" sz="1300" dirty="0"/>
          </a:p>
          <a:p>
            <a:pPr marL="177800" indent="-177800">
              <a:lnSpc>
                <a:spcPct val="108000"/>
              </a:lnSpc>
              <a:spcAft>
                <a:spcPts val="800"/>
              </a:spcAft>
              <a:buSzPct val="100000"/>
              <a:buChar char="•"/>
            </a:pPr>
            <a:r>
              <a:rPr lang="en-US" sz="1300" dirty="0">
                <a:solidFill>
                  <a:srgbClr val="333333"/>
                </a:solidFill>
                <a:latin typeface="Calibri" pitchFamily="34" charset="0"/>
                <a:ea typeface="Calibri" pitchFamily="34" charset="-122"/>
                <a:cs typeface="Calibri" pitchFamily="34" charset="-120"/>
              </a:rPr>
              <a:t>Context on why a deal moved, stalled, or was lost disappears within days of the meeting.</a:t>
            </a:r>
            <a:endParaRPr lang="en-US" sz="1300" dirty="0"/>
          </a:p>
          <a:p>
            <a:pPr marL="177800" indent="-177800">
              <a:lnSpc>
                <a:spcPct val="108000"/>
              </a:lnSpc>
              <a:spcAft>
                <a:spcPts val="800"/>
              </a:spcAft>
              <a:buSzPct val="100000"/>
              <a:buChar char="•"/>
            </a:pPr>
            <a:r>
              <a:rPr lang="en-US" sz="1300" dirty="0">
                <a:solidFill>
                  <a:srgbClr val="333333"/>
                </a:solidFill>
                <a:latin typeface="Calibri" pitchFamily="34" charset="0"/>
                <a:ea typeface="Calibri" pitchFamily="34" charset="-122"/>
                <a:cs typeface="Calibri" pitchFamily="34" charset="-120"/>
              </a:rPr>
              <a:t>Analysts and management have no reliable signal on what actually happens in the field.</a:t>
            </a:r>
            <a:endParaRPr lang="en-US" sz="1300" dirty="0"/>
          </a:p>
        </p:txBody>
      </p:sp>
      <p:sp>
        <p:nvSpPr>
          <p:cNvPr id="8" name="Shape 5"/>
          <p:cNvSpPr/>
          <p:nvPr/>
        </p:nvSpPr>
        <p:spPr>
          <a:xfrm>
            <a:off x="6355080" y="1234440"/>
            <a:ext cx="5257800" cy="4160520"/>
          </a:xfrm>
          <a:prstGeom prst="roundRect">
            <a:avLst>
              <a:gd name="adj" fmla="val 1758"/>
            </a:avLst>
          </a:prstGeom>
          <a:solidFill>
            <a:srgbClr val="F4F6FB"/>
          </a:solidFill>
          <a:ln w="9525">
            <a:solidFill>
              <a:srgbClr val="DCE3F0"/>
            </a:solidFill>
            <a:prstDash val="solid"/>
          </a:ln>
          <a:effectLst>
            <a:outerShdw sx="100000" sy="100000" kx="0" ky="0" algn="bl" rotWithShape="0" blurRad="76200" dist="25400" dir="5400000">
              <a:srgbClr val="1E2761">
                <a:alpha val="12000"/>
              </a:srgbClr>
            </a:outerShdw>
          </a:effectLst>
        </p:spPr>
      </p:sp>
      <p:sp>
        <p:nvSpPr>
          <p:cNvPr id="9" name="Shape 6"/>
          <p:cNvSpPr/>
          <p:nvPr/>
        </p:nvSpPr>
        <p:spPr>
          <a:xfrm>
            <a:off x="6606540" y="1485900"/>
            <a:ext cx="502920" cy="502920"/>
          </a:xfrm>
          <a:prstGeom prst="ellipse">
            <a:avLst/>
          </a:prstGeom>
          <a:solidFill>
            <a:srgbClr val="1E2761"/>
          </a:solidFill>
          <a:ln/>
        </p:spPr>
      </p:sp>
      <p:pic>
        <p:nvPicPr>
          <p:cNvPr id="10" name="Image 1" descr="/home/claude/icons/FaLightbulb.png">    </p:cNvPr>
          <p:cNvPicPr>
            <a:picLocks noChangeAspect="1"/>
          </p:cNvPicPr>
          <p:nvPr/>
        </p:nvPicPr>
        <p:blipFill>
          <a:blip r:embed="rId2"/>
          <a:stretch>
            <a:fillRect/>
          </a:stretch>
        </p:blipFill>
        <p:spPr>
          <a:xfrm>
            <a:off x="6727241" y="1606601"/>
            <a:ext cx="261518" cy="261518"/>
          </a:xfrm>
          <a:prstGeom prst="rect">
            <a:avLst/>
          </a:prstGeom>
        </p:spPr>
      </p:pic>
      <p:sp>
        <p:nvSpPr>
          <p:cNvPr id="11" name="Text 7"/>
          <p:cNvSpPr/>
          <p:nvPr/>
        </p:nvSpPr>
        <p:spPr>
          <a:xfrm>
            <a:off x="7223760" y="1490472"/>
            <a:ext cx="4160520" cy="50292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The Concept</a:t>
            </a:r>
            <a:endParaRPr lang="en-US" sz="1700" dirty="0"/>
          </a:p>
        </p:txBody>
      </p:sp>
      <p:sp>
        <p:nvSpPr>
          <p:cNvPr id="12" name="Text 8"/>
          <p:cNvSpPr/>
          <p:nvPr/>
        </p:nvSpPr>
        <p:spPr>
          <a:xfrm>
            <a:off x="6720840" y="2194560"/>
            <a:ext cx="4526280" cy="3063240"/>
          </a:xfrm>
          <a:prstGeom prst="rect">
            <a:avLst/>
          </a:prstGeom>
          <a:noFill/>
          <a:ln/>
        </p:spPr>
        <p:txBody>
          <a:bodyPr wrap="square" lIns="0" tIns="0" rIns="0" bIns="0" rtlCol="0" anchor="t"/>
          <a:lstStyle/>
          <a:p>
            <a:pPr marL="177800" indent="-177800">
              <a:lnSpc>
                <a:spcPct val="108000"/>
              </a:lnSpc>
              <a:spcAft>
                <a:spcPts val="800"/>
              </a:spcAft>
              <a:buSzPct val="100000"/>
              <a:buChar char="•"/>
            </a:pPr>
            <a:r>
              <a:rPr lang="en-US" sz="1300" dirty="0">
                <a:solidFill>
                  <a:srgbClr val="333333"/>
                </a:solidFill>
                <a:latin typeface="Calibri" pitchFamily="34" charset="0"/>
                <a:ea typeface="Calibri" pitchFamily="34" charset="-122"/>
                <a:cs typeface="Calibri" pitchFamily="34" charset="-120"/>
              </a:rPr>
              <a:t>A dedicated app lets a rep debrief by voice right after a meeting, most naturally while driving.</a:t>
            </a:r>
            <a:endParaRPr lang="en-US" sz="1300" dirty="0"/>
          </a:p>
          <a:p>
            <a:pPr marL="177800" indent="-177800">
              <a:lnSpc>
                <a:spcPct val="108000"/>
              </a:lnSpc>
              <a:spcAft>
                <a:spcPts val="800"/>
              </a:spcAft>
              <a:buSzPct val="100000"/>
              <a:buChar char="•"/>
            </a:pPr>
            <a:r>
              <a:rPr lang="en-US" sz="1300" dirty="0">
                <a:solidFill>
                  <a:srgbClr val="333333"/>
                </a:solidFill>
                <a:latin typeface="Calibri" pitchFamily="34" charset="0"/>
                <a:ea typeface="Calibri" pitchFamily="34" charset="-122"/>
                <a:cs typeface="Calibri" pitchFamily="34" charset="-120"/>
              </a:rPr>
              <a:t>The system already knows who the meeting was with, so the rep can simply speak.</a:t>
            </a:r>
            <a:endParaRPr lang="en-US" sz="1300" dirty="0"/>
          </a:p>
          <a:p>
            <a:pPr marL="177800" indent="-177800">
              <a:lnSpc>
                <a:spcPct val="108000"/>
              </a:lnSpc>
              <a:spcAft>
                <a:spcPts val="800"/>
              </a:spcAft>
              <a:buSzPct val="100000"/>
              <a:buChar char="•"/>
            </a:pPr>
            <a:r>
              <a:rPr lang="en-US" sz="1300" dirty="0">
                <a:solidFill>
                  <a:srgbClr val="333333"/>
                </a:solidFill>
                <a:latin typeface="Calibri" pitchFamily="34" charset="0"/>
                <a:ea typeface="Calibri" pitchFamily="34" charset="-122"/>
                <a:cs typeface="Calibri" pitchFamily="34" charset="-120"/>
              </a:rPr>
              <a:t>AI checks the debrief against what is expected for that meeting type and asks only for what is missing.</a:t>
            </a:r>
            <a:endParaRPr lang="en-US" sz="1300" dirty="0"/>
          </a:p>
          <a:p>
            <a:pPr marL="177800" indent="-177800">
              <a:lnSpc>
                <a:spcPct val="108000"/>
              </a:lnSpc>
              <a:spcAft>
                <a:spcPts val="800"/>
              </a:spcAft>
              <a:buSzPct val="100000"/>
              <a:buChar char="•"/>
            </a:pPr>
            <a:r>
              <a:rPr lang="en-US" sz="1300" dirty="0">
                <a:solidFill>
                  <a:srgbClr val="333333"/>
                </a:solidFill>
                <a:latin typeface="Calibri" pitchFamily="34" charset="0"/>
                <a:ea typeface="Calibri" pitchFamily="34" charset="-122"/>
                <a:cs typeface="Calibri" pitchFamily="34" charset="-120"/>
              </a:rPr>
              <a:t>Structured, rep-confirmed data flows into the CRM through a controlled, auditable path.</a:t>
            </a:r>
            <a:endParaRPr lang="en-US" sz="1300" dirty="0"/>
          </a:p>
        </p:txBody>
      </p:sp>
      <p:sp>
        <p:nvSpPr>
          <p:cNvPr id="13" name="Shape 9"/>
          <p:cNvSpPr/>
          <p:nvPr/>
        </p:nvSpPr>
        <p:spPr>
          <a:xfrm>
            <a:off x="548640" y="5623560"/>
            <a:ext cx="11064240" cy="566928"/>
          </a:xfrm>
          <a:prstGeom prst="roundRect">
            <a:avLst>
              <a:gd name="adj" fmla="val 9677"/>
            </a:avLst>
          </a:prstGeom>
          <a:solidFill>
            <a:srgbClr val="1E2761"/>
          </a:solidFill>
          <a:ln/>
        </p:spPr>
      </p:sp>
      <p:sp>
        <p:nvSpPr>
          <p:cNvPr id="14" name="Text 10"/>
          <p:cNvSpPr/>
          <p:nvPr/>
        </p:nvSpPr>
        <p:spPr>
          <a:xfrm>
            <a:off x="822960" y="5623560"/>
            <a:ext cx="10515600" cy="566928"/>
          </a:xfrm>
          <a:prstGeom prst="rect">
            <a:avLst/>
          </a:prstGeom>
          <a:noFill/>
          <a:ln/>
        </p:spPr>
        <p:txBody>
          <a:bodyPr wrap="square" lIns="0" tIns="0" rIns="0" bIns="0" rtlCol="0" anchor="ctr"/>
          <a:lstStyle/>
          <a:p>
            <a:pPr indent="0" marL="0">
              <a:buNone/>
            </a:pPr>
            <a:r>
              <a:rPr lang="en-US" sz="1250" i="1" dirty="0">
                <a:solidFill>
                  <a:srgbClr val="FFFFFF"/>
                </a:solidFill>
                <a:latin typeface="Calibri" pitchFamily="34" charset="0"/>
                <a:ea typeface="Calibri" pitchFamily="34" charset="-122"/>
                <a:cs typeface="Calibri" pitchFamily="34" charset="-120"/>
              </a:rPr>
              <a:t>This document proposes a best-practice architecture assuming budget and effort are not the constraint. Governance, maintainability, and long-term ownership are.</a:t>
            </a:r>
            <a:endParaRPr lang="en-US" sz="1250" dirty="0"/>
          </a:p>
        </p:txBody>
      </p:sp>
      <p:sp>
        <p:nvSpPr>
          <p:cNvPr id="15" name="Text 11"/>
          <p:cNvSpPr/>
          <p:nvPr/>
        </p:nvSpPr>
        <p:spPr>
          <a:xfrm>
            <a:off x="11521440" y="6446520"/>
            <a:ext cx="36576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594360"/>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Why the Name</a:t>
            </a:r>
            <a:endParaRPr lang="en-US" sz="2800" dirty="0"/>
          </a:p>
        </p:txBody>
      </p:sp>
      <p:sp>
        <p:nvSpPr>
          <p:cNvPr id="3" name="Shape 1"/>
          <p:cNvSpPr/>
          <p:nvPr/>
        </p:nvSpPr>
        <p:spPr>
          <a:xfrm>
            <a:off x="548640" y="1371600"/>
            <a:ext cx="3291840" cy="3931920"/>
          </a:xfrm>
          <a:prstGeom prst="roundRect">
            <a:avLst>
              <a:gd name="adj" fmla="val 2222"/>
            </a:avLst>
          </a:prstGeom>
          <a:solidFill>
            <a:srgbClr val="1E2761"/>
          </a:solidFill>
          <a:ln w="9525">
            <a:solidFill>
              <a:srgbClr val="DCE3F0"/>
            </a:solidFill>
            <a:prstDash val="solid"/>
          </a:ln>
        </p:spPr>
      </p:sp>
      <p:sp>
        <p:nvSpPr>
          <p:cNvPr id="4" name="Shape 2"/>
          <p:cNvSpPr/>
          <p:nvPr/>
        </p:nvSpPr>
        <p:spPr>
          <a:xfrm>
            <a:off x="1508760" y="2240280"/>
            <a:ext cx="1371600" cy="1371600"/>
          </a:xfrm>
          <a:prstGeom prst="ellipse">
            <a:avLst/>
          </a:prstGeom>
          <a:solidFill>
            <a:srgbClr val="141B4D"/>
          </a:solidFill>
          <a:ln/>
        </p:spPr>
      </p:sp>
      <p:pic>
        <p:nvPicPr>
          <p:cNvPr id="5" name="Image 0" descr="/home/claude/icons/FaLandmark.png">    </p:cNvPr>
          <p:cNvPicPr>
            <a:picLocks noChangeAspect="1"/>
          </p:cNvPicPr>
          <p:nvPr/>
        </p:nvPicPr>
        <p:blipFill>
          <a:blip r:embed="rId1"/>
          <a:stretch>
            <a:fillRect/>
          </a:stretch>
        </p:blipFill>
        <p:spPr>
          <a:xfrm>
            <a:off x="1837944" y="2569464"/>
            <a:ext cx="713232" cy="713232"/>
          </a:xfrm>
          <a:prstGeom prst="rect">
            <a:avLst/>
          </a:prstGeom>
        </p:spPr>
      </p:pic>
      <p:sp>
        <p:nvSpPr>
          <p:cNvPr id="6" name="Text 3"/>
          <p:cNvSpPr/>
          <p:nvPr/>
        </p:nvSpPr>
        <p:spPr>
          <a:xfrm>
            <a:off x="777240" y="3246120"/>
            <a:ext cx="2834640" cy="822960"/>
          </a:xfrm>
          <a:prstGeom prst="rect">
            <a:avLst/>
          </a:prstGeom>
          <a:noFill/>
          <a:ln/>
        </p:spPr>
        <p:txBody>
          <a:bodyPr wrap="square" lIns="0" tIns="0" rIns="0" bIns="0" rtlCol="0" anchor="t"/>
          <a:lstStyle/>
          <a:p>
            <a:pPr algn="ctr" indent="0" marL="0">
              <a:buNone/>
            </a:pPr>
            <a:r>
              <a:rPr lang="en-US" sz="1600" b="1" dirty="0">
                <a:solidFill>
                  <a:srgbClr val="C9A227"/>
                </a:solidFill>
                <a:latin typeface="Cambria" pitchFamily="34" charset="0"/>
                <a:ea typeface="Cambria" pitchFamily="34" charset="-122"/>
                <a:cs typeface="Cambria" pitchFamily="34" charset="-120"/>
              </a:rPr>
              <a:t>The Oracle of Delphi</a:t>
            </a:r>
            <a:endParaRPr lang="en-US" sz="1600" dirty="0"/>
          </a:p>
        </p:txBody>
      </p:sp>
      <p:sp>
        <p:nvSpPr>
          <p:cNvPr id="7" name="Text 4"/>
          <p:cNvSpPr/>
          <p:nvPr/>
        </p:nvSpPr>
        <p:spPr>
          <a:xfrm>
            <a:off x="4206240" y="1417320"/>
            <a:ext cx="7406640" cy="1737360"/>
          </a:xfrm>
          <a:prstGeom prst="rect">
            <a:avLst/>
          </a:prstGeom>
          <a:noFill/>
          <a:ln/>
        </p:spPr>
        <p:txBody>
          <a:bodyPr wrap="square" lIns="0" tIns="0" rIns="0" bIns="0" rtlCol="0" anchor="t"/>
          <a:lstStyle/>
          <a:p>
            <a:pPr indent="0" marL="0">
              <a:lnSpc>
                <a:spcPct val="115000"/>
              </a:lnSpc>
              <a:spcAft>
                <a:spcPts val="1200"/>
              </a:spcAft>
              <a:buNone/>
            </a:pPr>
            <a:r>
              <a:rPr lang="en-US" sz="1500" dirty="0">
                <a:solidFill>
                  <a:srgbClr val="333333"/>
                </a:solidFill>
                <a:latin typeface="Calibri" pitchFamily="34" charset="0"/>
                <a:ea typeface="Calibri" pitchFamily="34" charset="-122"/>
                <a:cs typeface="Calibri" pitchFamily="34" charset="-120"/>
              </a:rPr>
              <a:t>In Greek mythology, the Oracle of Delphi was consulted by travelers seeking guidance, an institution built entirely on asking the right questions to draw out answers that would otherwise stay hidden. </a:t>
            </a:r>
            <a:endParaRPr lang="en-US" sz="1500" dirty="0"/>
          </a:p>
        </p:txBody>
      </p:sp>
      <p:sp>
        <p:nvSpPr>
          <p:cNvPr id="8" name="Shape 5"/>
          <p:cNvSpPr/>
          <p:nvPr/>
        </p:nvSpPr>
        <p:spPr>
          <a:xfrm>
            <a:off x="4206240" y="2880360"/>
            <a:ext cx="1463040" cy="0"/>
          </a:xfrm>
          <a:prstGeom prst="line">
            <a:avLst/>
          </a:prstGeom>
          <a:noFill/>
          <a:ln w="25400">
            <a:solidFill>
              <a:srgbClr val="C9A227"/>
            </a:solidFill>
            <a:prstDash val="solid"/>
          </a:ln>
        </p:spPr>
      </p:sp>
      <p:sp>
        <p:nvSpPr>
          <p:cNvPr id="9" name="Text 6"/>
          <p:cNvSpPr/>
          <p:nvPr/>
        </p:nvSpPr>
        <p:spPr>
          <a:xfrm>
            <a:off x="4206240" y="3108960"/>
            <a:ext cx="7406640" cy="1554480"/>
          </a:xfrm>
          <a:prstGeom prst="rect">
            <a:avLst/>
          </a:prstGeom>
          <a:noFill/>
          <a:ln/>
        </p:spPr>
        <p:txBody>
          <a:bodyPr wrap="square" lIns="0" tIns="0" rIns="0" bIns="0" rtlCol="0" anchor="t"/>
          <a:lstStyle/>
          <a:p>
            <a:pPr indent="0" marL="0">
              <a:lnSpc>
                <a:spcPct val="115000"/>
              </a:lnSpc>
              <a:buNone/>
            </a:pPr>
            <a:r>
              <a:rPr lang="en-US" sz="1500" i="1" dirty="0">
                <a:solidFill>
                  <a:srgbClr val="1E2761"/>
                </a:solidFill>
                <a:latin typeface="Calibri" pitchFamily="34" charset="0"/>
                <a:ea typeface="Calibri" pitchFamily="34" charset="-122"/>
                <a:cs typeface="Calibri" pitchFamily="34" charset="-120"/>
              </a:rPr>
              <a:t>That is the mechanic at the center of this concept. The app does not just record what a rep says, it asks the follow-up questions needed to surface the details, the notes, that would otherwise remain unspoken.</a:t>
            </a:r>
            <a:endParaRPr lang="en-US" sz="1500" dirty="0"/>
          </a:p>
        </p:txBody>
      </p:sp>
      <p:sp>
        <p:nvSpPr>
          <p:cNvPr id="10" name="Text 7"/>
          <p:cNvSpPr/>
          <p:nvPr/>
        </p:nvSpPr>
        <p:spPr>
          <a:xfrm>
            <a:off x="4206240" y="4983480"/>
            <a:ext cx="7406640" cy="365760"/>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Solution name: Oracle Note.</a:t>
            </a:r>
            <a:endParaRPr lang="en-US" sz="1100" dirty="0"/>
          </a:p>
        </p:txBody>
      </p:sp>
      <p:sp>
        <p:nvSpPr>
          <p:cNvPr id="11" name="Text 8"/>
          <p:cNvSpPr/>
          <p:nvPr/>
        </p:nvSpPr>
        <p:spPr>
          <a:xfrm>
            <a:off x="11521440" y="6446520"/>
            <a:ext cx="36576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594360"/>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From Meeting to CRM: The Process in One View</a:t>
            </a:r>
            <a:endParaRPr lang="en-US" sz="2800" dirty="0"/>
          </a:p>
        </p:txBody>
      </p:sp>
      <p:sp>
        <p:nvSpPr>
          <p:cNvPr id="3" name="Shape 1"/>
          <p:cNvSpPr/>
          <p:nvPr/>
        </p:nvSpPr>
        <p:spPr>
          <a:xfrm>
            <a:off x="640080" y="1234440"/>
            <a:ext cx="3291840" cy="2331720"/>
          </a:xfrm>
          <a:prstGeom prst="roundRect">
            <a:avLst>
              <a:gd name="adj" fmla="val 3137"/>
            </a:avLst>
          </a:prstGeom>
          <a:solidFill>
            <a:srgbClr val="F4F6FB"/>
          </a:solidFill>
          <a:ln w="9525">
            <a:solidFill>
              <a:srgbClr val="DCE3F0"/>
            </a:solidFill>
            <a:prstDash val="solid"/>
          </a:ln>
          <a:effectLst>
            <a:outerShdw sx="100000" sy="100000" kx="0" ky="0" algn="bl" rotWithShape="0" blurRad="76200" dist="25400" dir="5400000">
              <a:srgbClr val="1E2761">
                <a:alpha val="12000"/>
              </a:srgbClr>
            </a:outerShdw>
          </a:effectLst>
        </p:spPr>
      </p:sp>
      <p:sp>
        <p:nvSpPr>
          <p:cNvPr id="4" name="Shape 2"/>
          <p:cNvSpPr/>
          <p:nvPr/>
        </p:nvSpPr>
        <p:spPr>
          <a:xfrm>
            <a:off x="859536" y="1408176"/>
            <a:ext cx="566928" cy="566928"/>
          </a:xfrm>
          <a:prstGeom prst="ellipse">
            <a:avLst/>
          </a:prstGeom>
          <a:solidFill>
            <a:srgbClr val="1E2761"/>
          </a:solidFill>
          <a:ln/>
        </p:spPr>
      </p:sp>
      <p:pic>
        <p:nvPicPr>
          <p:cNvPr id="5" name="Image 0" descr="/home/claude/icons/FaCarSide.png">    </p:cNvPr>
          <p:cNvPicPr>
            <a:picLocks noChangeAspect="1"/>
          </p:cNvPicPr>
          <p:nvPr/>
        </p:nvPicPr>
        <p:blipFill>
          <a:blip r:embed="rId1"/>
          <a:stretch>
            <a:fillRect/>
          </a:stretch>
        </p:blipFill>
        <p:spPr>
          <a:xfrm>
            <a:off x="995599" y="1544239"/>
            <a:ext cx="294803" cy="294803"/>
          </a:xfrm>
          <a:prstGeom prst="rect">
            <a:avLst/>
          </a:prstGeom>
        </p:spPr>
      </p:pic>
      <p:sp>
        <p:nvSpPr>
          <p:cNvPr id="6" name="Shape 3"/>
          <p:cNvSpPr/>
          <p:nvPr/>
        </p:nvSpPr>
        <p:spPr>
          <a:xfrm>
            <a:off x="3520440" y="1335024"/>
            <a:ext cx="310896" cy="310896"/>
          </a:xfrm>
          <a:prstGeom prst="ellipse">
            <a:avLst/>
          </a:prstGeom>
          <a:solidFill>
            <a:srgbClr val="C9A227"/>
          </a:solidFill>
          <a:ln w="19050">
            <a:solidFill>
              <a:srgbClr val="FFFFFF"/>
            </a:solidFill>
            <a:prstDash val="solid"/>
          </a:ln>
        </p:spPr>
      </p:sp>
      <p:sp>
        <p:nvSpPr>
          <p:cNvPr id="7" name="Text 4"/>
          <p:cNvSpPr/>
          <p:nvPr/>
        </p:nvSpPr>
        <p:spPr>
          <a:xfrm>
            <a:off x="3520440" y="1335024"/>
            <a:ext cx="310896" cy="310896"/>
          </a:xfrm>
          <a:prstGeom prst="rect">
            <a:avLst/>
          </a:prstGeom>
          <a:noFill/>
          <a:ln/>
        </p:spPr>
        <p:txBody>
          <a:bodyPr wrap="square" lIns="0" tIns="0" rIns="0" bIns="0" rtlCol="0" anchor="ctr"/>
          <a:lstStyle/>
          <a:p>
            <a:pPr algn="ctr" indent="0" marL="0">
              <a:buNone/>
            </a:pPr>
            <a:r>
              <a:rPr lang="en-US" sz="1300" b="1" dirty="0">
                <a:solidFill>
                  <a:srgbClr val="141B4D"/>
                </a:solidFill>
                <a:latin typeface="Cambria" pitchFamily="34" charset="0"/>
                <a:ea typeface="Cambria" pitchFamily="34" charset="-122"/>
                <a:cs typeface="Cambria" pitchFamily="34" charset="-120"/>
              </a:rPr>
              <a:t>1</a:t>
            </a:r>
            <a:endParaRPr lang="en-US" sz="1300" dirty="0"/>
          </a:p>
        </p:txBody>
      </p:sp>
      <p:sp>
        <p:nvSpPr>
          <p:cNvPr id="8" name="Text 5"/>
          <p:cNvSpPr/>
          <p:nvPr/>
        </p:nvSpPr>
        <p:spPr>
          <a:xfrm>
            <a:off x="868680" y="2103120"/>
            <a:ext cx="2834640" cy="365760"/>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Trigger</a:t>
            </a:r>
            <a:endParaRPr lang="en-US" sz="1350" dirty="0"/>
          </a:p>
        </p:txBody>
      </p:sp>
      <p:sp>
        <p:nvSpPr>
          <p:cNvPr id="9" name="Text 6"/>
          <p:cNvSpPr/>
          <p:nvPr/>
        </p:nvSpPr>
        <p:spPr>
          <a:xfrm>
            <a:off x="868680" y="2441448"/>
            <a:ext cx="2834640" cy="1005840"/>
          </a:xfrm>
          <a:prstGeom prst="rect">
            <a:avLst/>
          </a:prstGeom>
          <a:noFill/>
          <a:ln/>
        </p:spPr>
        <p:txBody>
          <a:bodyPr wrap="square" lIns="0" tIns="0" rIns="0" bIns="0" rtlCol="0" anchor="t"/>
          <a:lstStyle/>
          <a:p>
            <a:pPr indent="0" marL="0">
              <a:lnSpc>
                <a:spcPct val="105000"/>
              </a:lnSpc>
              <a:buNone/>
            </a:pPr>
            <a:r>
              <a:rPr lang="en-US" sz="1000" dirty="0">
                <a:solidFill>
                  <a:srgbClr val="333333"/>
                </a:solidFill>
                <a:latin typeface="Calibri" pitchFamily="34" charset="0"/>
                <a:ea typeface="Calibri" pitchFamily="34" charset="-122"/>
                <a:cs typeface="Calibri" pitchFamily="34" charset="-120"/>
              </a:rPr>
              <a:t>Meeting ends. The rep starts the car; the phone connects automatically. A voice command starts the debrief, hands stay on the wheel.</a:t>
            </a:r>
            <a:endParaRPr lang="en-US" sz="1000" dirty="0"/>
          </a:p>
        </p:txBody>
      </p:sp>
      <p:sp>
        <p:nvSpPr>
          <p:cNvPr id="10" name="Shape 7"/>
          <p:cNvSpPr/>
          <p:nvPr/>
        </p:nvSpPr>
        <p:spPr>
          <a:xfrm>
            <a:off x="4434840" y="1234440"/>
            <a:ext cx="3291840" cy="2331720"/>
          </a:xfrm>
          <a:prstGeom prst="roundRect">
            <a:avLst>
              <a:gd name="adj" fmla="val 3137"/>
            </a:avLst>
          </a:prstGeom>
          <a:solidFill>
            <a:srgbClr val="F4F6FB"/>
          </a:solidFill>
          <a:ln w="9525">
            <a:solidFill>
              <a:srgbClr val="DCE3F0"/>
            </a:solidFill>
            <a:prstDash val="solid"/>
          </a:ln>
          <a:effectLst>
            <a:outerShdw sx="100000" sy="100000" kx="0" ky="0" algn="bl" rotWithShape="0" blurRad="76200" dist="25400" dir="5400000">
              <a:srgbClr val="1E2761">
                <a:alpha val="12000"/>
              </a:srgbClr>
            </a:outerShdw>
          </a:effectLst>
        </p:spPr>
      </p:sp>
      <p:sp>
        <p:nvSpPr>
          <p:cNvPr id="11" name="Shape 8"/>
          <p:cNvSpPr/>
          <p:nvPr/>
        </p:nvSpPr>
        <p:spPr>
          <a:xfrm>
            <a:off x="4654296" y="1408176"/>
            <a:ext cx="566928" cy="566928"/>
          </a:xfrm>
          <a:prstGeom prst="ellipse">
            <a:avLst/>
          </a:prstGeom>
          <a:solidFill>
            <a:srgbClr val="1E2761"/>
          </a:solidFill>
          <a:ln/>
        </p:spPr>
      </p:sp>
      <p:pic>
        <p:nvPicPr>
          <p:cNvPr id="12" name="Image 1" descr="/home/claude/icons/FaLocationDot.png">    </p:cNvPr>
          <p:cNvPicPr>
            <a:picLocks noChangeAspect="1"/>
          </p:cNvPicPr>
          <p:nvPr/>
        </p:nvPicPr>
        <p:blipFill>
          <a:blip r:embed="rId2"/>
          <a:stretch>
            <a:fillRect/>
          </a:stretch>
        </p:blipFill>
        <p:spPr>
          <a:xfrm>
            <a:off x="4790359" y="1544239"/>
            <a:ext cx="294803" cy="294803"/>
          </a:xfrm>
          <a:prstGeom prst="rect">
            <a:avLst/>
          </a:prstGeom>
        </p:spPr>
      </p:pic>
      <p:sp>
        <p:nvSpPr>
          <p:cNvPr id="13" name="Shape 9"/>
          <p:cNvSpPr/>
          <p:nvPr/>
        </p:nvSpPr>
        <p:spPr>
          <a:xfrm>
            <a:off x="7315200" y="1335024"/>
            <a:ext cx="310896" cy="310896"/>
          </a:xfrm>
          <a:prstGeom prst="ellipse">
            <a:avLst/>
          </a:prstGeom>
          <a:solidFill>
            <a:srgbClr val="C9A227"/>
          </a:solidFill>
          <a:ln w="19050">
            <a:solidFill>
              <a:srgbClr val="FFFFFF"/>
            </a:solidFill>
            <a:prstDash val="solid"/>
          </a:ln>
        </p:spPr>
      </p:sp>
      <p:sp>
        <p:nvSpPr>
          <p:cNvPr id="14" name="Text 10"/>
          <p:cNvSpPr/>
          <p:nvPr/>
        </p:nvSpPr>
        <p:spPr>
          <a:xfrm>
            <a:off x="7315200" y="1335024"/>
            <a:ext cx="310896" cy="310896"/>
          </a:xfrm>
          <a:prstGeom prst="rect">
            <a:avLst/>
          </a:prstGeom>
          <a:noFill/>
          <a:ln/>
        </p:spPr>
        <p:txBody>
          <a:bodyPr wrap="square" lIns="0" tIns="0" rIns="0" bIns="0" rtlCol="0" anchor="ctr"/>
          <a:lstStyle/>
          <a:p>
            <a:pPr algn="ctr" indent="0" marL="0">
              <a:buNone/>
            </a:pPr>
            <a:r>
              <a:rPr lang="en-US" sz="1300" b="1" dirty="0">
                <a:solidFill>
                  <a:srgbClr val="141B4D"/>
                </a:solidFill>
                <a:latin typeface="Cambria" pitchFamily="34" charset="0"/>
                <a:ea typeface="Cambria" pitchFamily="34" charset="-122"/>
                <a:cs typeface="Cambria" pitchFamily="34" charset="-120"/>
              </a:rPr>
              <a:t>2</a:t>
            </a:r>
            <a:endParaRPr lang="en-US" sz="1300" dirty="0"/>
          </a:p>
        </p:txBody>
      </p:sp>
      <p:sp>
        <p:nvSpPr>
          <p:cNvPr id="15" name="Text 11"/>
          <p:cNvSpPr/>
          <p:nvPr/>
        </p:nvSpPr>
        <p:spPr>
          <a:xfrm>
            <a:off x="4663440" y="2103120"/>
            <a:ext cx="2834640" cy="365760"/>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Context Match</a:t>
            </a:r>
            <a:endParaRPr lang="en-US" sz="1350" dirty="0"/>
          </a:p>
        </p:txBody>
      </p:sp>
      <p:sp>
        <p:nvSpPr>
          <p:cNvPr id="16" name="Text 12"/>
          <p:cNvSpPr/>
          <p:nvPr/>
        </p:nvSpPr>
        <p:spPr>
          <a:xfrm>
            <a:off x="4663440" y="2441448"/>
            <a:ext cx="2834640" cy="1005840"/>
          </a:xfrm>
          <a:prstGeom prst="rect">
            <a:avLst/>
          </a:prstGeom>
          <a:noFill/>
          <a:ln/>
        </p:spPr>
        <p:txBody>
          <a:bodyPr wrap="square" lIns="0" tIns="0" rIns="0" bIns="0" rtlCol="0" anchor="t"/>
          <a:lstStyle/>
          <a:p>
            <a:pPr indent="0" marL="0">
              <a:lnSpc>
                <a:spcPct val="105000"/>
              </a:lnSpc>
              <a:buNone/>
            </a:pPr>
            <a:r>
              <a:rPr lang="en-US" sz="1000" dirty="0">
                <a:solidFill>
                  <a:srgbClr val="333333"/>
                </a:solidFill>
                <a:latin typeface="Calibri" pitchFamily="34" charset="0"/>
                <a:ea typeface="Calibri" pitchFamily="34" charset="-122"/>
                <a:cs typeface="Calibri" pitchFamily="34" charset="-120"/>
              </a:rPr>
              <a:t>The app matches the moment against the rep’s calendar, timestamp, and location to identify the customer automatically. No manual lookup.</a:t>
            </a:r>
            <a:endParaRPr lang="en-US" sz="1000" dirty="0"/>
          </a:p>
        </p:txBody>
      </p:sp>
      <p:sp>
        <p:nvSpPr>
          <p:cNvPr id="17" name="Shape 13"/>
          <p:cNvSpPr/>
          <p:nvPr/>
        </p:nvSpPr>
        <p:spPr>
          <a:xfrm>
            <a:off x="8229600" y="1234440"/>
            <a:ext cx="3291840" cy="2331720"/>
          </a:xfrm>
          <a:prstGeom prst="roundRect">
            <a:avLst>
              <a:gd name="adj" fmla="val 3137"/>
            </a:avLst>
          </a:prstGeom>
          <a:solidFill>
            <a:srgbClr val="F4F6FB"/>
          </a:solidFill>
          <a:ln w="9525">
            <a:solidFill>
              <a:srgbClr val="DCE3F0"/>
            </a:solidFill>
            <a:prstDash val="solid"/>
          </a:ln>
          <a:effectLst>
            <a:outerShdw sx="100000" sy="100000" kx="0" ky="0" algn="bl" rotWithShape="0" blurRad="76200" dist="25400" dir="5400000">
              <a:srgbClr val="1E2761">
                <a:alpha val="12000"/>
              </a:srgbClr>
            </a:outerShdw>
          </a:effectLst>
        </p:spPr>
      </p:sp>
      <p:sp>
        <p:nvSpPr>
          <p:cNvPr id="18" name="Shape 14"/>
          <p:cNvSpPr/>
          <p:nvPr/>
        </p:nvSpPr>
        <p:spPr>
          <a:xfrm>
            <a:off x="8449056" y="1408176"/>
            <a:ext cx="566928" cy="566928"/>
          </a:xfrm>
          <a:prstGeom prst="ellipse">
            <a:avLst/>
          </a:prstGeom>
          <a:solidFill>
            <a:srgbClr val="1E2761"/>
          </a:solidFill>
          <a:ln/>
        </p:spPr>
      </p:sp>
      <p:pic>
        <p:nvPicPr>
          <p:cNvPr id="19" name="Image 2" descr="/home/claude/icons/FaCloudArrowUp.png">    </p:cNvPr>
          <p:cNvPicPr>
            <a:picLocks noChangeAspect="1"/>
          </p:cNvPicPr>
          <p:nvPr/>
        </p:nvPicPr>
        <p:blipFill>
          <a:blip r:embed="rId3"/>
          <a:stretch>
            <a:fillRect/>
          </a:stretch>
        </p:blipFill>
        <p:spPr>
          <a:xfrm>
            <a:off x="8585119" y="1544239"/>
            <a:ext cx="294803" cy="294803"/>
          </a:xfrm>
          <a:prstGeom prst="rect">
            <a:avLst/>
          </a:prstGeom>
        </p:spPr>
      </p:pic>
      <p:sp>
        <p:nvSpPr>
          <p:cNvPr id="20" name="Shape 15"/>
          <p:cNvSpPr/>
          <p:nvPr/>
        </p:nvSpPr>
        <p:spPr>
          <a:xfrm>
            <a:off x="11109960" y="1335024"/>
            <a:ext cx="310896" cy="310896"/>
          </a:xfrm>
          <a:prstGeom prst="ellipse">
            <a:avLst/>
          </a:prstGeom>
          <a:solidFill>
            <a:srgbClr val="C9A227"/>
          </a:solidFill>
          <a:ln w="19050">
            <a:solidFill>
              <a:srgbClr val="FFFFFF"/>
            </a:solidFill>
            <a:prstDash val="solid"/>
          </a:ln>
        </p:spPr>
      </p:sp>
      <p:sp>
        <p:nvSpPr>
          <p:cNvPr id="21" name="Text 16"/>
          <p:cNvSpPr/>
          <p:nvPr/>
        </p:nvSpPr>
        <p:spPr>
          <a:xfrm>
            <a:off x="11109960" y="1335024"/>
            <a:ext cx="310896" cy="310896"/>
          </a:xfrm>
          <a:prstGeom prst="rect">
            <a:avLst/>
          </a:prstGeom>
          <a:noFill/>
          <a:ln/>
        </p:spPr>
        <p:txBody>
          <a:bodyPr wrap="square" lIns="0" tIns="0" rIns="0" bIns="0" rtlCol="0" anchor="ctr"/>
          <a:lstStyle/>
          <a:p>
            <a:pPr algn="ctr" indent="0" marL="0">
              <a:buNone/>
            </a:pPr>
            <a:r>
              <a:rPr lang="en-US" sz="1300" b="1" dirty="0">
                <a:solidFill>
                  <a:srgbClr val="141B4D"/>
                </a:solidFill>
                <a:latin typeface="Cambria" pitchFamily="34" charset="0"/>
                <a:ea typeface="Cambria" pitchFamily="34" charset="-122"/>
                <a:cs typeface="Cambria" pitchFamily="34" charset="-120"/>
              </a:rPr>
              <a:t>3</a:t>
            </a:r>
            <a:endParaRPr lang="en-US" sz="1300" dirty="0"/>
          </a:p>
        </p:txBody>
      </p:sp>
      <p:sp>
        <p:nvSpPr>
          <p:cNvPr id="22" name="Text 17"/>
          <p:cNvSpPr/>
          <p:nvPr/>
        </p:nvSpPr>
        <p:spPr>
          <a:xfrm>
            <a:off x="8458200" y="2103120"/>
            <a:ext cx="2834640" cy="365760"/>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Capture and Transcribe</a:t>
            </a:r>
            <a:endParaRPr lang="en-US" sz="1350" dirty="0"/>
          </a:p>
        </p:txBody>
      </p:sp>
      <p:sp>
        <p:nvSpPr>
          <p:cNvPr id="23" name="Text 18"/>
          <p:cNvSpPr/>
          <p:nvPr/>
        </p:nvSpPr>
        <p:spPr>
          <a:xfrm>
            <a:off x="8458200" y="2441448"/>
            <a:ext cx="2834640" cy="1005840"/>
          </a:xfrm>
          <a:prstGeom prst="rect">
            <a:avLst/>
          </a:prstGeom>
          <a:noFill/>
          <a:ln/>
        </p:spPr>
        <p:txBody>
          <a:bodyPr wrap="square" lIns="0" tIns="0" rIns="0" bIns="0" rtlCol="0" anchor="t"/>
          <a:lstStyle/>
          <a:p>
            <a:pPr indent="0" marL="0">
              <a:lnSpc>
                <a:spcPct val="105000"/>
              </a:lnSpc>
              <a:buNone/>
            </a:pPr>
            <a:r>
              <a:rPr lang="en-US" sz="1000" dirty="0">
                <a:solidFill>
                  <a:srgbClr val="333333"/>
                </a:solidFill>
                <a:latin typeface="Calibri" pitchFamily="34" charset="0"/>
                <a:ea typeface="Calibri" pitchFamily="34" charset="-122"/>
                <a:cs typeface="Calibri" pitchFamily="34" charset="-120"/>
              </a:rPr>
              <a:t>The rep speaks freely. Audio streams to Azure Speech-to-Text in the EU. Once transcribed, the raw audio is deleted immediately.</a:t>
            </a:r>
            <a:endParaRPr lang="en-US" sz="1000" dirty="0"/>
          </a:p>
        </p:txBody>
      </p:sp>
      <p:sp>
        <p:nvSpPr>
          <p:cNvPr id="24" name="Shape 19"/>
          <p:cNvSpPr/>
          <p:nvPr/>
        </p:nvSpPr>
        <p:spPr>
          <a:xfrm>
            <a:off x="8229600" y="3977640"/>
            <a:ext cx="3291840" cy="2331720"/>
          </a:xfrm>
          <a:prstGeom prst="roundRect">
            <a:avLst>
              <a:gd name="adj" fmla="val 3137"/>
            </a:avLst>
          </a:prstGeom>
          <a:solidFill>
            <a:srgbClr val="F4F6FB"/>
          </a:solidFill>
          <a:ln w="9525">
            <a:solidFill>
              <a:srgbClr val="DCE3F0"/>
            </a:solidFill>
            <a:prstDash val="solid"/>
          </a:ln>
          <a:effectLst>
            <a:outerShdw sx="100000" sy="100000" kx="0" ky="0" algn="bl" rotWithShape="0" blurRad="76200" dist="25400" dir="5400000">
              <a:srgbClr val="1E2761">
                <a:alpha val="12000"/>
              </a:srgbClr>
            </a:outerShdw>
          </a:effectLst>
        </p:spPr>
      </p:sp>
      <p:sp>
        <p:nvSpPr>
          <p:cNvPr id="25" name="Shape 20"/>
          <p:cNvSpPr/>
          <p:nvPr/>
        </p:nvSpPr>
        <p:spPr>
          <a:xfrm>
            <a:off x="8449056" y="4151376"/>
            <a:ext cx="566928" cy="566928"/>
          </a:xfrm>
          <a:prstGeom prst="ellipse">
            <a:avLst/>
          </a:prstGeom>
          <a:solidFill>
            <a:srgbClr val="1E2761"/>
          </a:solidFill>
          <a:ln/>
        </p:spPr>
      </p:sp>
      <p:pic>
        <p:nvPicPr>
          <p:cNvPr id="26" name="Image 3" descr="/home/claude/icons/FaClipboardCheck.png">    </p:cNvPr>
          <p:cNvPicPr>
            <a:picLocks noChangeAspect="1"/>
          </p:cNvPicPr>
          <p:nvPr/>
        </p:nvPicPr>
        <p:blipFill>
          <a:blip r:embed="rId4"/>
          <a:stretch>
            <a:fillRect/>
          </a:stretch>
        </p:blipFill>
        <p:spPr>
          <a:xfrm>
            <a:off x="8585119" y="4287439"/>
            <a:ext cx="294803" cy="294803"/>
          </a:xfrm>
          <a:prstGeom prst="rect">
            <a:avLst/>
          </a:prstGeom>
        </p:spPr>
      </p:pic>
      <p:sp>
        <p:nvSpPr>
          <p:cNvPr id="27" name="Shape 21"/>
          <p:cNvSpPr/>
          <p:nvPr/>
        </p:nvSpPr>
        <p:spPr>
          <a:xfrm>
            <a:off x="11109960" y="4078224"/>
            <a:ext cx="310896" cy="310896"/>
          </a:xfrm>
          <a:prstGeom prst="ellipse">
            <a:avLst/>
          </a:prstGeom>
          <a:solidFill>
            <a:srgbClr val="C9A227"/>
          </a:solidFill>
          <a:ln w="19050">
            <a:solidFill>
              <a:srgbClr val="FFFFFF"/>
            </a:solidFill>
            <a:prstDash val="solid"/>
          </a:ln>
        </p:spPr>
      </p:sp>
      <p:sp>
        <p:nvSpPr>
          <p:cNvPr id="28" name="Text 22"/>
          <p:cNvSpPr/>
          <p:nvPr/>
        </p:nvSpPr>
        <p:spPr>
          <a:xfrm>
            <a:off x="11109960" y="4078224"/>
            <a:ext cx="310896" cy="310896"/>
          </a:xfrm>
          <a:prstGeom prst="rect">
            <a:avLst/>
          </a:prstGeom>
          <a:noFill/>
          <a:ln/>
        </p:spPr>
        <p:txBody>
          <a:bodyPr wrap="square" lIns="0" tIns="0" rIns="0" bIns="0" rtlCol="0" anchor="ctr"/>
          <a:lstStyle/>
          <a:p>
            <a:pPr algn="ctr" indent="0" marL="0">
              <a:buNone/>
            </a:pPr>
            <a:r>
              <a:rPr lang="en-US" sz="1300" b="1" dirty="0">
                <a:solidFill>
                  <a:srgbClr val="141B4D"/>
                </a:solidFill>
                <a:latin typeface="Cambria" pitchFamily="34" charset="0"/>
                <a:ea typeface="Cambria" pitchFamily="34" charset="-122"/>
                <a:cs typeface="Cambria" pitchFamily="34" charset="-120"/>
              </a:rPr>
              <a:t>4</a:t>
            </a:r>
            <a:endParaRPr lang="en-US" sz="1300" dirty="0"/>
          </a:p>
        </p:txBody>
      </p:sp>
      <p:sp>
        <p:nvSpPr>
          <p:cNvPr id="29" name="Text 23"/>
          <p:cNvSpPr/>
          <p:nvPr/>
        </p:nvSpPr>
        <p:spPr>
          <a:xfrm>
            <a:off x="8458200" y="4846320"/>
            <a:ext cx="2834640" cy="365760"/>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AI Gap Analysis</a:t>
            </a:r>
            <a:endParaRPr lang="en-US" sz="1350" dirty="0"/>
          </a:p>
        </p:txBody>
      </p:sp>
      <p:sp>
        <p:nvSpPr>
          <p:cNvPr id="30" name="Text 24"/>
          <p:cNvSpPr/>
          <p:nvPr/>
        </p:nvSpPr>
        <p:spPr>
          <a:xfrm>
            <a:off x="8458200" y="5184648"/>
            <a:ext cx="2834640" cy="1005840"/>
          </a:xfrm>
          <a:prstGeom prst="rect">
            <a:avLst/>
          </a:prstGeom>
          <a:noFill/>
          <a:ln/>
        </p:spPr>
        <p:txBody>
          <a:bodyPr wrap="square" lIns="0" tIns="0" rIns="0" bIns="0" rtlCol="0" anchor="t"/>
          <a:lstStyle/>
          <a:p>
            <a:pPr indent="0" marL="0">
              <a:lnSpc>
                <a:spcPct val="105000"/>
              </a:lnSpc>
              <a:buNone/>
            </a:pPr>
            <a:r>
              <a:rPr lang="en-US" sz="1000" dirty="0">
                <a:solidFill>
                  <a:srgbClr val="333333"/>
                </a:solidFill>
                <a:latin typeface="Calibri" pitchFamily="34" charset="0"/>
                <a:ea typeface="Calibri" pitchFamily="34" charset="-122"/>
                <a:cs typeface="Calibri" pitchFamily="34" charset="-120"/>
              </a:rPr>
              <a:t>The transcript is checked against the schema for that meeting type. Missing fields are flagged. Follow-up questions wait until the car has stopped.</a:t>
            </a:r>
            <a:endParaRPr lang="en-US" sz="1000" dirty="0"/>
          </a:p>
        </p:txBody>
      </p:sp>
      <p:sp>
        <p:nvSpPr>
          <p:cNvPr id="31" name="Shape 25"/>
          <p:cNvSpPr/>
          <p:nvPr/>
        </p:nvSpPr>
        <p:spPr>
          <a:xfrm>
            <a:off x="4434840" y="3977640"/>
            <a:ext cx="3291840" cy="2331720"/>
          </a:xfrm>
          <a:prstGeom prst="roundRect">
            <a:avLst>
              <a:gd name="adj" fmla="val 3137"/>
            </a:avLst>
          </a:prstGeom>
          <a:solidFill>
            <a:srgbClr val="F4F6FB"/>
          </a:solidFill>
          <a:ln w="9525">
            <a:solidFill>
              <a:srgbClr val="DCE3F0"/>
            </a:solidFill>
            <a:prstDash val="solid"/>
          </a:ln>
          <a:effectLst>
            <a:outerShdw sx="100000" sy="100000" kx="0" ky="0" algn="bl" rotWithShape="0" blurRad="76200" dist="25400" dir="5400000">
              <a:srgbClr val="1E2761">
                <a:alpha val="12000"/>
              </a:srgbClr>
            </a:outerShdw>
          </a:effectLst>
        </p:spPr>
      </p:sp>
      <p:sp>
        <p:nvSpPr>
          <p:cNvPr id="32" name="Shape 26"/>
          <p:cNvSpPr/>
          <p:nvPr/>
        </p:nvSpPr>
        <p:spPr>
          <a:xfrm>
            <a:off x="4654296" y="4151376"/>
            <a:ext cx="566928" cy="566928"/>
          </a:xfrm>
          <a:prstGeom prst="ellipse">
            <a:avLst/>
          </a:prstGeom>
          <a:solidFill>
            <a:srgbClr val="1E2761"/>
          </a:solidFill>
          <a:ln/>
        </p:spPr>
      </p:sp>
      <p:pic>
        <p:nvPicPr>
          <p:cNvPr id="33" name="Image 4" descr="/home/claude/icons/FaUserCheck.png">    </p:cNvPr>
          <p:cNvPicPr>
            <a:picLocks noChangeAspect="1"/>
          </p:cNvPicPr>
          <p:nvPr/>
        </p:nvPicPr>
        <p:blipFill>
          <a:blip r:embed="rId5"/>
          <a:stretch>
            <a:fillRect/>
          </a:stretch>
        </p:blipFill>
        <p:spPr>
          <a:xfrm>
            <a:off x="4790359" y="4287439"/>
            <a:ext cx="294803" cy="294803"/>
          </a:xfrm>
          <a:prstGeom prst="rect">
            <a:avLst/>
          </a:prstGeom>
        </p:spPr>
      </p:pic>
      <p:sp>
        <p:nvSpPr>
          <p:cNvPr id="34" name="Shape 27"/>
          <p:cNvSpPr/>
          <p:nvPr/>
        </p:nvSpPr>
        <p:spPr>
          <a:xfrm>
            <a:off x="7315200" y="4078224"/>
            <a:ext cx="310896" cy="310896"/>
          </a:xfrm>
          <a:prstGeom prst="ellipse">
            <a:avLst/>
          </a:prstGeom>
          <a:solidFill>
            <a:srgbClr val="C9A227"/>
          </a:solidFill>
          <a:ln w="19050">
            <a:solidFill>
              <a:srgbClr val="FFFFFF"/>
            </a:solidFill>
            <a:prstDash val="solid"/>
          </a:ln>
        </p:spPr>
      </p:sp>
      <p:sp>
        <p:nvSpPr>
          <p:cNvPr id="35" name="Text 28"/>
          <p:cNvSpPr/>
          <p:nvPr/>
        </p:nvSpPr>
        <p:spPr>
          <a:xfrm>
            <a:off x="7315200" y="4078224"/>
            <a:ext cx="310896" cy="310896"/>
          </a:xfrm>
          <a:prstGeom prst="rect">
            <a:avLst/>
          </a:prstGeom>
          <a:noFill/>
          <a:ln/>
        </p:spPr>
        <p:txBody>
          <a:bodyPr wrap="square" lIns="0" tIns="0" rIns="0" bIns="0" rtlCol="0" anchor="ctr"/>
          <a:lstStyle/>
          <a:p>
            <a:pPr algn="ctr" indent="0" marL="0">
              <a:buNone/>
            </a:pPr>
            <a:r>
              <a:rPr lang="en-US" sz="1300" b="1" dirty="0">
                <a:solidFill>
                  <a:srgbClr val="141B4D"/>
                </a:solidFill>
                <a:latin typeface="Cambria" pitchFamily="34" charset="0"/>
                <a:ea typeface="Cambria" pitchFamily="34" charset="-122"/>
                <a:cs typeface="Cambria" pitchFamily="34" charset="-120"/>
              </a:rPr>
              <a:t>5</a:t>
            </a:r>
            <a:endParaRPr lang="en-US" sz="1300" dirty="0"/>
          </a:p>
        </p:txBody>
      </p:sp>
      <p:sp>
        <p:nvSpPr>
          <p:cNvPr id="36" name="Text 29"/>
          <p:cNvSpPr/>
          <p:nvPr/>
        </p:nvSpPr>
        <p:spPr>
          <a:xfrm>
            <a:off x="4663440" y="4846320"/>
            <a:ext cx="2834640" cy="365760"/>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Rep Review</a:t>
            </a:r>
            <a:endParaRPr lang="en-US" sz="1350" dirty="0"/>
          </a:p>
        </p:txBody>
      </p:sp>
      <p:sp>
        <p:nvSpPr>
          <p:cNvPr id="37" name="Text 30"/>
          <p:cNvSpPr/>
          <p:nvPr/>
        </p:nvSpPr>
        <p:spPr>
          <a:xfrm>
            <a:off x="4663440" y="5184648"/>
            <a:ext cx="2834640" cy="1005840"/>
          </a:xfrm>
          <a:prstGeom prst="rect">
            <a:avLst/>
          </a:prstGeom>
          <a:noFill/>
          <a:ln/>
        </p:spPr>
        <p:txBody>
          <a:bodyPr wrap="square" lIns="0" tIns="0" rIns="0" bIns="0" rtlCol="0" anchor="t"/>
          <a:lstStyle/>
          <a:p>
            <a:pPr indent="0" marL="0">
              <a:lnSpc>
                <a:spcPct val="105000"/>
              </a:lnSpc>
              <a:buNone/>
            </a:pPr>
            <a:r>
              <a:rPr lang="en-US" sz="1000" dirty="0">
                <a:solidFill>
                  <a:srgbClr val="333333"/>
                </a:solidFill>
                <a:latin typeface="Calibri" pitchFamily="34" charset="0"/>
                <a:ea typeface="Calibri" pitchFamily="34" charset="-122"/>
                <a:cs typeface="Calibri" pitchFamily="34" charset="-120"/>
              </a:rPr>
              <a:t>The structured record, with transcript, customer, timestamp, and location, is staged for the rep to review and confirm at their convenience.</a:t>
            </a:r>
            <a:endParaRPr lang="en-US" sz="1000" dirty="0"/>
          </a:p>
        </p:txBody>
      </p:sp>
      <p:sp>
        <p:nvSpPr>
          <p:cNvPr id="38" name="Shape 31"/>
          <p:cNvSpPr/>
          <p:nvPr/>
        </p:nvSpPr>
        <p:spPr>
          <a:xfrm>
            <a:off x="640080" y="3977640"/>
            <a:ext cx="3291840" cy="2331720"/>
          </a:xfrm>
          <a:prstGeom prst="roundRect">
            <a:avLst>
              <a:gd name="adj" fmla="val 3137"/>
            </a:avLst>
          </a:prstGeom>
          <a:solidFill>
            <a:srgbClr val="F4F6FB"/>
          </a:solidFill>
          <a:ln w="9525">
            <a:solidFill>
              <a:srgbClr val="DCE3F0"/>
            </a:solidFill>
            <a:prstDash val="solid"/>
          </a:ln>
          <a:effectLst>
            <a:outerShdw sx="100000" sy="100000" kx="0" ky="0" algn="bl" rotWithShape="0" blurRad="76200" dist="25400" dir="5400000">
              <a:srgbClr val="1E2761">
                <a:alpha val="12000"/>
              </a:srgbClr>
            </a:outerShdw>
          </a:effectLst>
        </p:spPr>
      </p:sp>
      <p:sp>
        <p:nvSpPr>
          <p:cNvPr id="39" name="Shape 32"/>
          <p:cNvSpPr/>
          <p:nvPr/>
        </p:nvSpPr>
        <p:spPr>
          <a:xfrm>
            <a:off x="859536" y="4151376"/>
            <a:ext cx="566928" cy="566928"/>
          </a:xfrm>
          <a:prstGeom prst="ellipse">
            <a:avLst/>
          </a:prstGeom>
          <a:solidFill>
            <a:srgbClr val="1E2761"/>
          </a:solidFill>
          <a:ln/>
        </p:spPr>
      </p:sp>
      <p:pic>
        <p:nvPicPr>
          <p:cNvPr id="40" name="Image 5" descr="/home/claude/icons/FaShieldHalved.png">    </p:cNvPr>
          <p:cNvPicPr>
            <a:picLocks noChangeAspect="1"/>
          </p:cNvPicPr>
          <p:nvPr/>
        </p:nvPicPr>
        <p:blipFill>
          <a:blip r:embed="rId6"/>
          <a:stretch>
            <a:fillRect/>
          </a:stretch>
        </p:blipFill>
        <p:spPr>
          <a:xfrm>
            <a:off x="995599" y="4287439"/>
            <a:ext cx="294803" cy="294803"/>
          </a:xfrm>
          <a:prstGeom prst="rect">
            <a:avLst/>
          </a:prstGeom>
        </p:spPr>
      </p:pic>
      <p:sp>
        <p:nvSpPr>
          <p:cNvPr id="41" name="Shape 33"/>
          <p:cNvSpPr/>
          <p:nvPr/>
        </p:nvSpPr>
        <p:spPr>
          <a:xfrm>
            <a:off x="3520440" y="4078224"/>
            <a:ext cx="310896" cy="310896"/>
          </a:xfrm>
          <a:prstGeom prst="ellipse">
            <a:avLst/>
          </a:prstGeom>
          <a:solidFill>
            <a:srgbClr val="C9A227"/>
          </a:solidFill>
          <a:ln w="19050">
            <a:solidFill>
              <a:srgbClr val="FFFFFF"/>
            </a:solidFill>
            <a:prstDash val="solid"/>
          </a:ln>
        </p:spPr>
      </p:sp>
      <p:sp>
        <p:nvSpPr>
          <p:cNvPr id="42" name="Text 34"/>
          <p:cNvSpPr/>
          <p:nvPr/>
        </p:nvSpPr>
        <p:spPr>
          <a:xfrm>
            <a:off x="3520440" y="4078224"/>
            <a:ext cx="310896" cy="310896"/>
          </a:xfrm>
          <a:prstGeom prst="rect">
            <a:avLst/>
          </a:prstGeom>
          <a:noFill/>
          <a:ln/>
        </p:spPr>
        <p:txBody>
          <a:bodyPr wrap="square" lIns="0" tIns="0" rIns="0" bIns="0" rtlCol="0" anchor="ctr"/>
          <a:lstStyle/>
          <a:p>
            <a:pPr algn="ctr" indent="0" marL="0">
              <a:buNone/>
            </a:pPr>
            <a:r>
              <a:rPr lang="en-US" sz="1300" b="1" dirty="0">
                <a:solidFill>
                  <a:srgbClr val="141B4D"/>
                </a:solidFill>
                <a:latin typeface="Cambria" pitchFamily="34" charset="0"/>
                <a:ea typeface="Cambria" pitchFamily="34" charset="-122"/>
                <a:cs typeface="Cambria" pitchFamily="34" charset="-120"/>
              </a:rPr>
              <a:t>6</a:t>
            </a:r>
            <a:endParaRPr lang="en-US" sz="1300" dirty="0"/>
          </a:p>
        </p:txBody>
      </p:sp>
      <p:sp>
        <p:nvSpPr>
          <p:cNvPr id="43" name="Text 35"/>
          <p:cNvSpPr/>
          <p:nvPr/>
        </p:nvSpPr>
        <p:spPr>
          <a:xfrm>
            <a:off x="868680" y="4846320"/>
            <a:ext cx="2834640" cy="365760"/>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Governed Sync</a:t>
            </a:r>
            <a:endParaRPr lang="en-US" sz="1350" dirty="0"/>
          </a:p>
        </p:txBody>
      </p:sp>
      <p:sp>
        <p:nvSpPr>
          <p:cNvPr id="44" name="Text 36"/>
          <p:cNvSpPr/>
          <p:nvPr/>
        </p:nvSpPr>
        <p:spPr>
          <a:xfrm>
            <a:off x="868680" y="5184648"/>
            <a:ext cx="2834640" cy="1005840"/>
          </a:xfrm>
          <a:prstGeom prst="rect">
            <a:avLst/>
          </a:prstGeom>
          <a:noFill/>
          <a:ln/>
        </p:spPr>
        <p:txBody>
          <a:bodyPr wrap="square" lIns="0" tIns="0" rIns="0" bIns="0" rtlCol="0" anchor="t"/>
          <a:lstStyle/>
          <a:p>
            <a:pPr indent="0" marL="0">
              <a:lnSpc>
                <a:spcPct val="105000"/>
              </a:lnSpc>
              <a:buNone/>
            </a:pPr>
            <a:r>
              <a:rPr lang="en-US" sz="1000" dirty="0">
                <a:solidFill>
                  <a:srgbClr val="333333"/>
                </a:solidFill>
                <a:latin typeface="Calibri" pitchFamily="34" charset="0"/>
                <a:ea typeface="Calibri" pitchFamily="34" charset="-122"/>
                <a:cs typeface="Calibri" pitchFamily="34" charset="-120"/>
              </a:rPr>
              <a:t>Once confirmed, and only when device compliance and network trust checks pass, the validated record is written to the CRM.</a:t>
            </a:r>
            <a:endParaRPr lang="en-US" sz="1000" dirty="0"/>
          </a:p>
        </p:txBody>
      </p:sp>
      <p:sp>
        <p:nvSpPr>
          <p:cNvPr id="45" name="Shape 37"/>
          <p:cNvSpPr/>
          <p:nvPr/>
        </p:nvSpPr>
        <p:spPr>
          <a:xfrm>
            <a:off x="4037076" y="2281428"/>
            <a:ext cx="292608" cy="237744"/>
          </a:xfrm>
          <a:prstGeom prst="chevron">
            <a:avLst/>
          </a:prstGeom>
          <a:solidFill>
            <a:srgbClr val="C9A227"/>
          </a:solidFill>
          <a:ln/>
        </p:spPr>
      </p:sp>
      <p:sp>
        <p:nvSpPr>
          <p:cNvPr id="46" name="Shape 38"/>
          <p:cNvSpPr/>
          <p:nvPr/>
        </p:nvSpPr>
        <p:spPr>
          <a:xfrm>
            <a:off x="7831836" y="2281428"/>
            <a:ext cx="292608" cy="237744"/>
          </a:xfrm>
          <a:prstGeom prst="chevron">
            <a:avLst/>
          </a:prstGeom>
          <a:solidFill>
            <a:srgbClr val="C9A227"/>
          </a:solidFill>
          <a:ln/>
        </p:spPr>
      </p:sp>
      <p:sp>
        <p:nvSpPr>
          <p:cNvPr id="47" name="Shape 39"/>
          <p:cNvSpPr/>
          <p:nvPr/>
        </p:nvSpPr>
        <p:spPr>
          <a:xfrm rot="10800000">
            <a:off x="4037076" y="5024628"/>
            <a:ext cx="292608" cy="237744"/>
          </a:xfrm>
          <a:prstGeom prst="chevron">
            <a:avLst/>
          </a:prstGeom>
          <a:solidFill>
            <a:srgbClr val="C9A227"/>
          </a:solidFill>
          <a:ln/>
        </p:spPr>
      </p:sp>
      <p:sp>
        <p:nvSpPr>
          <p:cNvPr id="48" name="Shape 40"/>
          <p:cNvSpPr/>
          <p:nvPr/>
        </p:nvSpPr>
        <p:spPr>
          <a:xfrm rot="10800000">
            <a:off x="7831836" y="5024628"/>
            <a:ext cx="292608" cy="237744"/>
          </a:xfrm>
          <a:prstGeom prst="chevron">
            <a:avLst/>
          </a:prstGeom>
          <a:solidFill>
            <a:srgbClr val="C9A227"/>
          </a:solidFill>
          <a:ln/>
        </p:spPr>
      </p:sp>
      <p:sp>
        <p:nvSpPr>
          <p:cNvPr id="49" name="Shape 41"/>
          <p:cNvSpPr/>
          <p:nvPr/>
        </p:nvSpPr>
        <p:spPr>
          <a:xfrm rot="5400000">
            <a:off x="9756648" y="3625596"/>
            <a:ext cx="237744" cy="292608"/>
          </a:xfrm>
          <a:prstGeom prst="chevron">
            <a:avLst/>
          </a:prstGeom>
          <a:solidFill>
            <a:srgbClr val="C9A227"/>
          </a:solidFill>
          <a:ln/>
        </p:spPr>
      </p:sp>
      <p:sp>
        <p:nvSpPr>
          <p:cNvPr id="50" name="Text 42"/>
          <p:cNvSpPr/>
          <p:nvPr/>
        </p:nvSpPr>
        <p:spPr>
          <a:xfrm>
            <a:off x="11521440" y="6446520"/>
            <a:ext cx="36576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594360"/>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Architecture Overview: Layered by Design</a:t>
            </a:r>
            <a:endParaRPr lang="en-US" sz="2800" dirty="0"/>
          </a:p>
        </p:txBody>
      </p:sp>
      <p:sp>
        <p:nvSpPr>
          <p:cNvPr id="3" name="Shape 1"/>
          <p:cNvSpPr/>
          <p:nvPr/>
        </p:nvSpPr>
        <p:spPr>
          <a:xfrm>
            <a:off x="548640" y="1234440"/>
            <a:ext cx="11064240" cy="658368"/>
          </a:xfrm>
          <a:prstGeom prst="roundRect">
            <a:avLst>
              <a:gd name="adj" fmla="val 11111"/>
            </a:avLst>
          </a:prstGeom>
          <a:solidFill>
            <a:srgbClr val="F4F6FB"/>
          </a:solidFill>
          <a:ln w="9525">
            <a:solidFill>
              <a:srgbClr val="DCE3F0"/>
            </a:solidFill>
            <a:prstDash val="solid"/>
          </a:ln>
        </p:spPr>
      </p:sp>
      <p:sp>
        <p:nvSpPr>
          <p:cNvPr id="4" name="Shape 2"/>
          <p:cNvSpPr/>
          <p:nvPr/>
        </p:nvSpPr>
        <p:spPr>
          <a:xfrm>
            <a:off x="777240" y="1335024"/>
            <a:ext cx="457200" cy="457200"/>
          </a:xfrm>
          <a:prstGeom prst="ellipse">
            <a:avLst/>
          </a:prstGeom>
          <a:solidFill>
            <a:srgbClr val="1E2761"/>
          </a:solidFill>
          <a:ln/>
        </p:spPr>
      </p:sp>
      <p:pic>
        <p:nvPicPr>
          <p:cNvPr id="5" name="Image 0" descr="/home/claude/icons/FaMobileScreenButton.png">    </p:cNvPr>
          <p:cNvPicPr>
            <a:picLocks noChangeAspect="1"/>
          </p:cNvPicPr>
          <p:nvPr/>
        </p:nvPicPr>
        <p:blipFill>
          <a:blip r:embed="rId1"/>
          <a:stretch>
            <a:fillRect/>
          </a:stretch>
        </p:blipFill>
        <p:spPr>
          <a:xfrm>
            <a:off x="886968" y="1444752"/>
            <a:ext cx="237744" cy="237744"/>
          </a:xfrm>
          <a:prstGeom prst="rect">
            <a:avLst/>
          </a:prstGeom>
        </p:spPr>
      </p:pic>
      <p:sp>
        <p:nvSpPr>
          <p:cNvPr id="6" name="Text 3"/>
          <p:cNvSpPr/>
          <p:nvPr/>
        </p:nvSpPr>
        <p:spPr>
          <a:xfrm>
            <a:off x="1417320" y="1234440"/>
            <a:ext cx="2743200" cy="658368"/>
          </a:xfrm>
          <a:prstGeom prst="rect">
            <a:avLst/>
          </a:prstGeom>
          <a:noFill/>
          <a:ln/>
        </p:spPr>
        <p:txBody>
          <a:bodyPr wrap="square" lIns="0" tIns="0" rIns="0" bIns="0"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Capture Layer</a:t>
            </a:r>
            <a:endParaRPr lang="en-US" sz="1300" dirty="0"/>
          </a:p>
        </p:txBody>
      </p:sp>
      <p:sp>
        <p:nvSpPr>
          <p:cNvPr id="7" name="Text 4"/>
          <p:cNvSpPr/>
          <p:nvPr/>
        </p:nvSpPr>
        <p:spPr>
          <a:xfrm>
            <a:off x="4251960" y="1234440"/>
            <a:ext cx="7086600" cy="658368"/>
          </a:xfrm>
          <a:prstGeom prst="rect">
            <a:avLst/>
          </a:prstGeom>
          <a:noFill/>
          <a:ln/>
        </p:spPr>
        <p:txBody>
          <a:bodyPr wrap="square" lIns="0" tIns="0" rIns="0" bIns="0" rtlCol="0" anchor="ctr"/>
          <a:lstStyle/>
          <a:p>
            <a:pPr indent="0" marL="0">
              <a:lnSpc>
                <a:spcPct val="102000"/>
              </a:lnSpc>
              <a:buNone/>
            </a:pPr>
            <a:r>
              <a:rPr lang="en-US" sz="1100" dirty="0">
                <a:solidFill>
                  <a:srgbClr val="333333"/>
                </a:solidFill>
                <a:latin typeface="Calibri" pitchFamily="34" charset="0"/>
                <a:ea typeface="Calibri" pitchFamily="34" charset="-122"/>
                <a:cs typeface="Calibri" pitchFamily="34" charset="-120"/>
              </a:rPr>
              <a:t>Company-managed mobile app (iOS/Android), Intune-enrolled. Encrypted local buffering; no dependency on CRM availability to capture.</a:t>
            </a:r>
            <a:endParaRPr lang="en-US" sz="1100" dirty="0"/>
          </a:p>
        </p:txBody>
      </p:sp>
      <p:sp>
        <p:nvSpPr>
          <p:cNvPr id="8" name="Shape 5"/>
          <p:cNvSpPr/>
          <p:nvPr/>
        </p:nvSpPr>
        <p:spPr>
          <a:xfrm>
            <a:off x="548640" y="1975104"/>
            <a:ext cx="11064240" cy="658368"/>
          </a:xfrm>
          <a:prstGeom prst="roundRect">
            <a:avLst>
              <a:gd name="adj" fmla="val 11111"/>
            </a:avLst>
          </a:prstGeom>
          <a:solidFill>
            <a:srgbClr val="F4F6FB"/>
          </a:solidFill>
          <a:ln w="9525">
            <a:solidFill>
              <a:srgbClr val="DCE3F0"/>
            </a:solidFill>
            <a:prstDash val="solid"/>
          </a:ln>
        </p:spPr>
      </p:sp>
      <p:sp>
        <p:nvSpPr>
          <p:cNvPr id="9" name="Shape 6"/>
          <p:cNvSpPr/>
          <p:nvPr/>
        </p:nvSpPr>
        <p:spPr>
          <a:xfrm>
            <a:off x="777240" y="2075688"/>
            <a:ext cx="457200" cy="457200"/>
          </a:xfrm>
          <a:prstGeom prst="ellipse">
            <a:avLst/>
          </a:prstGeom>
          <a:solidFill>
            <a:srgbClr val="1E2761"/>
          </a:solidFill>
          <a:ln/>
        </p:spPr>
      </p:sp>
      <p:pic>
        <p:nvPicPr>
          <p:cNvPr id="10" name="Image 1" descr="/home/claude/icons/FaBrain.png">    </p:cNvPr>
          <p:cNvPicPr>
            <a:picLocks noChangeAspect="1"/>
          </p:cNvPicPr>
          <p:nvPr/>
        </p:nvPicPr>
        <p:blipFill>
          <a:blip r:embed="rId2"/>
          <a:stretch>
            <a:fillRect/>
          </a:stretch>
        </p:blipFill>
        <p:spPr>
          <a:xfrm>
            <a:off x="886968" y="2185416"/>
            <a:ext cx="237744" cy="237744"/>
          </a:xfrm>
          <a:prstGeom prst="rect">
            <a:avLst/>
          </a:prstGeom>
        </p:spPr>
      </p:pic>
      <p:sp>
        <p:nvSpPr>
          <p:cNvPr id="11" name="Text 7"/>
          <p:cNvSpPr/>
          <p:nvPr/>
        </p:nvSpPr>
        <p:spPr>
          <a:xfrm>
            <a:off x="1417320" y="1975104"/>
            <a:ext cx="2743200" cy="658368"/>
          </a:xfrm>
          <a:prstGeom prst="rect">
            <a:avLst/>
          </a:prstGeom>
          <a:noFill/>
          <a:ln/>
        </p:spPr>
        <p:txBody>
          <a:bodyPr wrap="square" lIns="0" tIns="0" rIns="0" bIns="0"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AI Processing Layer (EU)</a:t>
            </a:r>
            <a:endParaRPr lang="en-US" sz="1300" dirty="0"/>
          </a:p>
        </p:txBody>
      </p:sp>
      <p:sp>
        <p:nvSpPr>
          <p:cNvPr id="12" name="Text 8"/>
          <p:cNvSpPr/>
          <p:nvPr/>
        </p:nvSpPr>
        <p:spPr>
          <a:xfrm>
            <a:off x="4251960" y="1975104"/>
            <a:ext cx="7086600" cy="658368"/>
          </a:xfrm>
          <a:prstGeom prst="rect">
            <a:avLst/>
          </a:prstGeom>
          <a:noFill/>
          <a:ln/>
        </p:spPr>
        <p:txBody>
          <a:bodyPr wrap="square" lIns="0" tIns="0" rIns="0" bIns="0" rtlCol="0" anchor="ctr"/>
          <a:lstStyle/>
          <a:p>
            <a:pPr indent="0" marL="0">
              <a:lnSpc>
                <a:spcPct val="102000"/>
              </a:lnSpc>
              <a:buNone/>
            </a:pPr>
            <a:r>
              <a:rPr lang="en-US" sz="1100" dirty="0">
                <a:solidFill>
                  <a:srgbClr val="333333"/>
                </a:solidFill>
                <a:latin typeface="Calibri" pitchFamily="34" charset="0"/>
                <a:ea typeface="Calibri" pitchFamily="34" charset="-122"/>
                <a:cs typeface="Calibri" pitchFamily="34" charset="-120"/>
              </a:rPr>
              <a:t>Azure Speech-to-Text and Azure AI Language, EU region only. Transcribes the debrief and extracts data against the approved schema.</a:t>
            </a:r>
            <a:endParaRPr lang="en-US" sz="1100" dirty="0"/>
          </a:p>
        </p:txBody>
      </p:sp>
      <p:sp>
        <p:nvSpPr>
          <p:cNvPr id="13" name="Shape 9"/>
          <p:cNvSpPr/>
          <p:nvPr/>
        </p:nvSpPr>
        <p:spPr>
          <a:xfrm>
            <a:off x="548640" y="2715768"/>
            <a:ext cx="11064240" cy="658368"/>
          </a:xfrm>
          <a:prstGeom prst="roundRect">
            <a:avLst>
              <a:gd name="adj" fmla="val 11111"/>
            </a:avLst>
          </a:prstGeom>
          <a:solidFill>
            <a:srgbClr val="F4F6FB"/>
          </a:solidFill>
          <a:ln w="9525">
            <a:solidFill>
              <a:srgbClr val="DCE3F0"/>
            </a:solidFill>
            <a:prstDash val="solid"/>
          </a:ln>
        </p:spPr>
      </p:sp>
      <p:sp>
        <p:nvSpPr>
          <p:cNvPr id="14" name="Shape 10"/>
          <p:cNvSpPr/>
          <p:nvPr/>
        </p:nvSpPr>
        <p:spPr>
          <a:xfrm>
            <a:off x="777240" y="2816352"/>
            <a:ext cx="457200" cy="457200"/>
          </a:xfrm>
          <a:prstGeom prst="ellipse">
            <a:avLst/>
          </a:prstGeom>
          <a:solidFill>
            <a:srgbClr val="1E2761"/>
          </a:solidFill>
          <a:ln/>
        </p:spPr>
      </p:sp>
      <p:pic>
        <p:nvPicPr>
          <p:cNvPr id="15" name="Image 2" descr="/home/claude/icons/FaDatabase.png">    </p:cNvPr>
          <p:cNvPicPr>
            <a:picLocks noChangeAspect="1"/>
          </p:cNvPicPr>
          <p:nvPr/>
        </p:nvPicPr>
        <p:blipFill>
          <a:blip r:embed="rId3"/>
          <a:stretch>
            <a:fillRect/>
          </a:stretch>
        </p:blipFill>
        <p:spPr>
          <a:xfrm>
            <a:off x="886968" y="2926080"/>
            <a:ext cx="237744" cy="237744"/>
          </a:xfrm>
          <a:prstGeom prst="rect">
            <a:avLst/>
          </a:prstGeom>
        </p:spPr>
      </p:pic>
      <p:sp>
        <p:nvSpPr>
          <p:cNvPr id="16" name="Text 11"/>
          <p:cNvSpPr/>
          <p:nvPr/>
        </p:nvSpPr>
        <p:spPr>
          <a:xfrm>
            <a:off x="1417320" y="2715768"/>
            <a:ext cx="2743200" cy="658368"/>
          </a:xfrm>
          <a:prstGeom prst="rect">
            <a:avLst/>
          </a:prstGeom>
          <a:noFill/>
          <a:ln/>
        </p:spPr>
        <p:txBody>
          <a:bodyPr wrap="square" lIns="0" tIns="0" rIns="0" bIns="0"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Staging Layer</a:t>
            </a:r>
            <a:endParaRPr lang="en-US" sz="1300" dirty="0"/>
          </a:p>
        </p:txBody>
      </p:sp>
      <p:sp>
        <p:nvSpPr>
          <p:cNvPr id="17" name="Text 12"/>
          <p:cNvSpPr/>
          <p:nvPr/>
        </p:nvSpPr>
        <p:spPr>
          <a:xfrm>
            <a:off x="4251960" y="2715768"/>
            <a:ext cx="7086600" cy="658368"/>
          </a:xfrm>
          <a:prstGeom prst="rect">
            <a:avLst/>
          </a:prstGeom>
          <a:noFill/>
          <a:ln/>
        </p:spPr>
        <p:txBody>
          <a:bodyPr wrap="square" lIns="0" tIns="0" rIns="0" bIns="0" rtlCol="0" anchor="ctr"/>
          <a:lstStyle/>
          <a:p>
            <a:pPr indent="0" marL="0">
              <a:lnSpc>
                <a:spcPct val="102000"/>
              </a:lnSpc>
              <a:buNone/>
            </a:pPr>
            <a:r>
              <a:rPr lang="en-US" sz="1100" dirty="0">
                <a:solidFill>
                  <a:srgbClr val="333333"/>
                </a:solidFill>
                <a:latin typeface="Calibri" pitchFamily="34" charset="0"/>
                <a:ea typeface="Calibri" pitchFamily="34" charset="-122"/>
                <a:cs typeface="Calibri" pitchFamily="34" charset="-120"/>
              </a:rPr>
              <a:t>Structured records held in Microsoft Fabric or Dataverse, separate from the CRM, carrying confidence scores and rep review status.</a:t>
            </a:r>
            <a:endParaRPr lang="en-US" sz="1100" dirty="0"/>
          </a:p>
        </p:txBody>
      </p:sp>
      <p:sp>
        <p:nvSpPr>
          <p:cNvPr id="18" name="Shape 13"/>
          <p:cNvSpPr/>
          <p:nvPr/>
        </p:nvSpPr>
        <p:spPr>
          <a:xfrm>
            <a:off x="548640" y="3456432"/>
            <a:ext cx="11064240" cy="658368"/>
          </a:xfrm>
          <a:prstGeom prst="roundRect">
            <a:avLst>
              <a:gd name="adj" fmla="val 11111"/>
            </a:avLst>
          </a:prstGeom>
          <a:solidFill>
            <a:srgbClr val="F4F6FB"/>
          </a:solidFill>
          <a:ln w="9525">
            <a:solidFill>
              <a:srgbClr val="DCE3F0"/>
            </a:solidFill>
            <a:prstDash val="solid"/>
          </a:ln>
        </p:spPr>
      </p:sp>
      <p:sp>
        <p:nvSpPr>
          <p:cNvPr id="19" name="Shape 14"/>
          <p:cNvSpPr/>
          <p:nvPr/>
        </p:nvSpPr>
        <p:spPr>
          <a:xfrm>
            <a:off x="777240" y="3557016"/>
            <a:ext cx="457200" cy="457200"/>
          </a:xfrm>
          <a:prstGeom prst="ellipse">
            <a:avLst/>
          </a:prstGeom>
          <a:solidFill>
            <a:srgbClr val="1E2761"/>
          </a:solidFill>
          <a:ln/>
        </p:spPr>
      </p:sp>
      <p:pic>
        <p:nvPicPr>
          <p:cNvPr id="20" name="Image 3" descr="/home/claude/icons/FaShieldHalved.png">    </p:cNvPr>
          <p:cNvPicPr>
            <a:picLocks noChangeAspect="1"/>
          </p:cNvPicPr>
          <p:nvPr/>
        </p:nvPicPr>
        <p:blipFill>
          <a:blip r:embed="rId4"/>
          <a:stretch>
            <a:fillRect/>
          </a:stretch>
        </p:blipFill>
        <p:spPr>
          <a:xfrm>
            <a:off x="886968" y="3666744"/>
            <a:ext cx="237744" cy="237744"/>
          </a:xfrm>
          <a:prstGeom prst="rect">
            <a:avLst/>
          </a:prstGeom>
        </p:spPr>
      </p:pic>
      <p:sp>
        <p:nvSpPr>
          <p:cNvPr id="21" name="Text 15"/>
          <p:cNvSpPr/>
          <p:nvPr/>
        </p:nvSpPr>
        <p:spPr>
          <a:xfrm>
            <a:off x="1417320" y="3456432"/>
            <a:ext cx="2743200" cy="658368"/>
          </a:xfrm>
          <a:prstGeom prst="rect">
            <a:avLst/>
          </a:prstGeom>
          <a:noFill/>
          <a:ln/>
        </p:spPr>
        <p:txBody>
          <a:bodyPr wrap="square" lIns="0" tIns="0" rIns="0" bIns="0"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Governed Sync Layer</a:t>
            </a:r>
            <a:endParaRPr lang="en-US" sz="1300" dirty="0"/>
          </a:p>
        </p:txBody>
      </p:sp>
      <p:sp>
        <p:nvSpPr>
          <p:cNvPr id="22" name="Text 16"/>
          <p:cNvSpPr/>
          <p:nvPr/>
        </p:nvSpPr>
        <p:spPr>
          <a:xfrm>
            <a:off x="4251960" y="3456432"/>
            <a:ext cx="7086600" cy="658368"/>
          </a:xfrm>
          <a:prstGeom prst="rect">
            <a:avLst/>
          </a:prstGeom>
          <a:noFill/>
          <a:ln/>
        </p:spPr>
        <p:txBody>
          <a:bodyPr wrap="square" lIns="0" tIns="0" rIns="0" bIns="0" rtlCol="0" anchor="ctr"/>
          <a:lstStyle/>
          <a:p>
            <a:pPr indent="0" marL="0">
              <a:lnSpc>
                <a:spcPct val="102000"/>
              </a:lnSpc>
              <a:buNone/>
            </a:pPr>
            <a:r>
              <a:rPr lang="en-US" sz="1100" dirty="0">
                <a:solidFill>
                  <a:srgbClr val="333333"/>
                </a:solidFill>
                <a:latin typeface="Calibri" pitchFamily="34" charset="0"/>
                <a:ea typeface="Calibri" pitchFamily="34" charset="-122"/>
                <a:cs typeface="Calibri" pitchFamily="34" charset="-120"/>
              </a:rPr>
              <a:t>Enforces device compliance, verified identity, and network trust (Zero Trust Conditional Access) before any write proceeds.</a:t>
            </a:r>
            <a:endParaRPr lang="en-US" sz="1100" dirty="0"/>
          </a:p>
        </p:txBody>
      </p:sp>
      <p:sp>
        <p:nvSpPr>
          <p:cNvPr id="23" name="Shape 17"/>
          <p:cNvSpPr/>
          <p:nvPr/>
        </p:nvSpPr>
        <p:spPr>
          <a:xfrm>
            <a:off x="548640" y="4197096"/>
            <a:ext cx="11064240" cy="658368"/>
          </a:xfrm>
          <a:prstGeom prst="roundRect">
            <a:avLst>
              <a:gd name="adj" fmla="val 11111"/>
            </a:avLst>
          </a:prstGeom>
          <a:solidFill>
            <a:srgbClr val="F4F6FB"/>
          </a:solidFill>
          <a:ln w="9525">
            <a:solidFill>
              <a:srgbClr val="DCE3F0"/>
            </a:solidFill>
            <a:prstDash val="solid"/>
          </a:ln>
        </p:spPr>
      </p:sp>
      <p:sp>
        <p:nvSpPr>
          <p:cNvPr id="24" name="Shape 18"/>
          <p:cNvSpPr/>
          <p:nvPr/>
        </p:nvSpPr>
        <p:spPr>
          <a:xfrm>
            <a:off x="777240" y="4297680"/>
            <a:ext cx="457200" cy="457200"/>
          </a:xfrm>
          <a:prstGeom prst="ellipse">
            <a:avLst/>
          </a:prstGeom>
          <a:solidFill>
            <a:srgbClr val="1E2761"/>
          </a:solidFill>
          <a:ln/>
        </p:spPr>
      </p:sp>
      <p:pic>
        <p:nvPicPr>
          <p:cNvPr id="25" name="Image 4" descr="/home/claude/icons/FaBuildingColumns.png">    </p:cNvPr>
          <p:cNvPicPr>
            <a:picLocks noChangeAspect="1"/>
          </p:cNvPicPr>
          <p:nvPr/>
        </p:nvPicPr>
        <p:blipFill>
          <a:blip r:embed="rId5"/>
          <a:stretch>
            <a:fillRect/>
          </a:stretch>
        </p:blipFill>
        <p:spPr>
          <a:xfrm>
            <a:off x="886968" y="4407408"/>
            <a:ext cx="237744" cy="237744"/>
          </a:xfrm>
          <a:prstGeom prst="rect">
            <a:avLst/>
          </a:prstGeom>
        </p:spPr>
      </p:pic>
      <p:sp>
        <p:nvSpPr>
          <p:cNvPr id="26" name="Text 19"/>
          <p:cNvSpPr/>
          <p:nvPr/>
        </p:nvSpPr>
        <p:spPr>
          <a:xfrm>
            <a:off x="1417320" y="4197096"/>
            <a:ext cx="2743200" cy="658368"/>
          </a:xfrm>
          <a:prstGeom prst="rect">
            <a:avLst/>
          </a:prstGeom>
          <a:noFill/>
          <a:ln/>
        </p:spPr>
        <p:txBody>
          <a:bodyPr wrap="square" lIns="0" tIns="0" rIns="0" bIns="0"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CRM (System of Record)</a:t>
            </a:r>
            <a:endParaRPr lang="en-US" sz="1300" dirty="0"/>
          </a:p>
        </p:txBody>
      </p:sp>
      <p:sp>
        <p:nvSpPr>
          <p:cNvPr id="27" name="Text 20"/>
          <p:cNvSpPr/>
          <p:nvPr/>
        </p:nvSpPr>
        <p:spPr>
          <a:xfrm>
            <a:off x="4251960" y="4197096"/>
            <a:ext cx="7086600" cy="658368"/>
          </a:xfrm>
          <a:prstGeom prst="rect">
            <a:avLst/>
          </a:prstGeom>
          <a:noFill/>
          <a:ln/>
        </p:spPr>
        <p:txBody>
          <a:bodyPr wrap="square" lIns="0" tIns="0" rIns="0" bIns="0" rtlCol="0" anchor="ctr"/>
          <a:lstStyle/>
          <a:p>
            <a:pPr indent="0" marL="0">
              <a:lnSpc>
                <a:spcPct val="102000"/>
              </a:lnSpc>
              <a:buNone/>
            </a:pPr>
            <a:r>
              <a:rPr lang="en-US" sz="1100" dirty="0">
                <a:solidFill>
                  <a:srgbClr val="333333"/>
                </a:solidFill>
                <a:latin typeface="Calibri" pitchFamily="34" charset="0"/>
                <a:ea typeface="Calibri" pitchFamily="34" charset="-122"/>
                <a:cs typeface="Calibri" pitchFamily="34" charset="-120"/>
              </a:rPr>
              <a:t>Receives only validated, rep-confirmed records. Never receives raw AI output or unreviewed extractions directly.</a:t>
            </a:r>
            <a:endParaRPr lang="en-US" sz="1100" dirty="0"/>
          </a:p>
        </p:txBody>
      </p:sp>
      <p:sp>
        <p:nvSpPr>
          <p:cNvPr id="28" name="Shape 21"/>
          <p:cNvSpPr/>
          <p:nvPr/>
        </p:nvSpPr>
        <p:spPr>
          <a:xfrm>
            <a:off x="548640" y="4937760"/>
            <a:ext cx="11064240" cy="658368"/>
          </a:xfrm>
          <a:prstGeom prst="roundRect">
            <a:avLst>
              <a:gd name="adj" fmla="val 11111"/>
            </a:avLst>
          </a:prstGeom>
          <a:solidFill>
            <a:srgbClr val="F4F6FB"/>
          </a:solidFill>
          <a:ln w="9525">
            <a:solidFill>
              <a:srgbClr val="DCE3F0"/>
            </a:solidFill>
            <a:prstDash val="solid"/>
          </a:ln>
        </p:spPr>
      </p:sp>
      <p:sp>
        <p:nvSpPr>
          <p:cNvPr id="29" name="Shape 22"/>
          <p:cNvSpPr/>
          <p:nvPr/>
        </p:nvSpPr>
        <p:spPr>
          <a:xfrm>
            <a:off x="777240" y="5038344"/>
            <a:ext cx="457200" cy="457200"/>
          </a:xfrm>
          <a:prstGeom prst="ellipse">
            <a:avLst/>
          </a:prstGeom>
          <a:solidFill>
            <a:srgbClr val="1E2761"/>
          </a:solidFill>
          <a:ln/>
        </p:spPr>
      </p:sp>
      <p:pic>
        <p:nvPicPr>
          <p:cNvPr id="30" name="Image 5" descr="/home/claude/icons/FaChartLine.png">    </p:cNvPr>
          <p:cNvPicPr>
            <a:picLocks noChangeAspect="1"/>
          </p:cNvPicPr>
          <p:nvPr/>
        </p:nvPicPr>
        <p:blipFill>
          <a:blip r:embed="rId6"/>
          <a:stretch>
            <a:fillRect/>
          </a:stretch>
        </p:blipFill>
        <p:spPr>
          <a:xfrm>
            <a:off x="886968" y="5148072"/>
            <a:ext cx="237744" cy="237744"/>
          </a:xfrm>
          <a:prstGeom prst="rect">
            <a:avLst/>
          </a:prstGeom>
        </p:spPr>
      </p:pic>
      <p:sp>
        <p:nvSpPr>
          <p:cNvPr id="31" name="Text 23"/>
          <p:cNvSpPr/>
          <p:nvPr/>
        </p:nvSpPr>
        <p:spPr>
          <a:xfrm>
            <a:off x="1417320" y="4937760"/>
            <a:ext cx="2743200" cy="658368"/>
          </a:xfrm>
          <a:prstGeom prst="rect">
            <a:avLst/>
          </a:prstGeom>
          <a:noFill/>
          <a:ln/>
        </p:spPr>
        <p:txBody>
          <a:bodyPr wrap="square" lIns="0" tIns="0" rIns="0" bIns="0"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Analytics Layer</a:t>
            </a:r>
            <a:endParaRPr lang="en-US" sz="1300" dirty="0"/>
          </a:p>
        </p:txBody>
      </p:sp>
      <p:sp>
        <p:nvSpPr>
          <p:cNvPr id="32" name="Text 24"/>
          <p:cNvSpPr/>
          <p:nvPr/>
        </p:nvSpPr>
        <p:spPr>
          <a:xfrm>
            <a:off x="4251960" y="4937760"/>
            <a:ext cx="7086600" cy="658368"/>
          </a:xfrm>
          <a:prstGeom prst="rect">
            <a:avLst/>
          </a:prstGeom>
          <a:noFill/>
          <a:ln/>
        </p:spPr>
        <p:txBody>
          <a:bodyPr wrap="square" lIns="0" tIns="0" rIns="0" bIns="0" rtlCol="0" anchor="ctr"/>
          <a:lstStyle/>
          <a:p>
            <a:pPr indent="0" marL="0">
              <a:lnSpc>
                <a:spcPct val="102000"/>
              </a:lnSpc>
              <a:buNone/>
            </a:pPr>
            <a:r>
              <a:rPr lang="en-US" sz="1100" dirty="0">
                <a:solidFill>
                  <a:srgbClr val="333333"/>
                </a:solidFill>
                <a:latin typeface="Calibri" pitchFamily="34" charset="0"/>
                <a:ea typeface="Calibri" pitchFamily="34" charset="-122"/>
                <a:cs typeface="Calibri" pitchFamily="34" charset="-120"/>
              </a:rPr>
              <a:t>Power BI reads from the staging layer for trend analysis, on a separate, restricted access path from individual rep records.</a:t>
            </a:r>
            <a:endParaRPr lang="en-US" sz="1100" dirty="0"/>
          </a:p>
        </p:txBody>
      </p:sp>
      <p:sp>
        <p:nvSpPr>
          <p:cNvPr id="33" name="Text 25"/>
          <p:cNvSpPr/>
          <p:nvPr/>
        </p:nvSpPr>
        <p:spPr>
          <a:xfrm>
            <a:off x="11521440" y="6446520"/>
            <a:ext cx="36576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1E2761"/>
          </a:solidFill>
          <a:ln/>
        </p:spPr>
      </p:sp>
      <p:pic>
        <p:nvPicPr>
          <p:cNvPr id="3" name="Image 0" descr="/home/claude/icons/FaScaleBalanced.png">    </p:cNvPr>
          <p:cNvPicPr>
            <a:picLocks noChangeAspect="1"/>
          </p:cNvPicPr>
          <p:nvPr/>
        </p:nvPicPr>
        <p:blipFill>
          <a:blip r:embed="rId1"/>
          <a:stretch>
            <a:fillRect/>
          </a:stretch>
        </p:blipFill>
        <p:spPr>
          <a:xfrm>
            <a:off x="576072" y="502920"/>
            <a:ext cx="237744" cy="237744"/>
          </a:xfrm>
          <a:prstGeom prst="rect">
            <a:avLst/>
          </a:prstGeom>
        </p:spPr>
      </p:pic>
      <p:sp>
        <p:nvSpPr>
          <p:cNvPr id="4" name="Text 1"/>
          <p:cNvSpPr/>
          <p:nvPr/>
        </p:nvSpPr>
        <p:spPr>
          <a:xfrm>
            <a:off x="1051560" y="320040"/>
            <a:ext cx="10652760" cy="594360"/>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Recommendation: Stage and Review Before Writing to CRM</a:t>
            </a:r>
            <a:endParaRPr lang="en-US" sz="2800" dirty="0"/>
          </a:p>
        </p:txBody>
      </p:sp>
      <p:sp>
        <p:nvSpPr>
          <p:cNvPr id="5" name="Shape 2"/>
          <p:cNvSpPr/>
          <p:nvPr/>
        </p:nvSpPr>
        <p:spPr>
          <a:xfrm>
            <a:off x="548640" y="1234440"/>
            <a:ext cx="2651760" cy="457200"/>
          </a:xfrm>
          <a:prstGeom prst="rect">
            <a:avLst/>
          </a:prstGeom>
          <a:solidFill>
            <a:srgbClr val="1E2761"/>
          </a:solidFill>
          <a:ln w="12700">
            <a:solidFill>
              <a:srgbClr val="FFFFFF"/>
            </a:solidFill>
            <a:prstDash val="solid"/>
          </a:ln>
        </p:spPr>
      </p:sp>
      <p:sp>
        <p:nvSpPr>
          <p:cNvPr id="6" name="Text 3"/>
          <p:cNvSpPr/>
          <p:nvPr/>
        </p:nvSpPr>
        <p:spPr>
          <a:xfrm>
            <a:off x="658368" y="1234440"/>
            <a:ext cx="2432304" cy="457200"/>
          </a:xfrm>
          <a:prstGeom prst="rect">
            <a:avLst/>
          </a:prstGeom>
          <a:noFill/>
          <a:ln/>
        </p:spPr>
        <p:txBody>
          <a:bodyPr wrap="square" lIns="0" tIns="0" rIns="0" bIns="0" rtlCol="0" anchor="ctr"/>
          <a:lstStyle/>
          <a:p>
            <a:pPr indent="0" marL="0">
              <a:lnSpc>
                <a:spcPct val="100000"/>
              </a:lnSpc>
              <a:buNone/>
            </a:pPr>
            <a:r>
              <a:rPr lang="en-US" sz="1250" b="1" dirty="0">
                <a:solidFill>
                  <a:srgbClr val="FFFFFF"/>
                </a:solidFill>
                <a:latin typeface="Cambria" pitchFamily="34" charset="0"/>
                <a:ea typeface="Cambria" pitchFamily="34" charset="-122"/>
                <a:cs typeface="Cambria" pitchFamily="34" charset="-120"/>
              </a:rPr>
              <a:t>Dimension</a:t>
            </a:r>
            <a:endParaRPr lang="en-US" sz="1250" dirty="0"/>
          </a:p>
        </p:txBody>
      </p:sp>
      <p:sp>
        <p:nvSpPr>
          <p:cNvPr id="7" name="Shape 4"/>
          <p:cNvSpPr/>
          <p:nvPr/>
        </p:nvSpPr>
        <p:spPr>
          <a:xfrm>
            <a:off x="3200400" y="1234440"/>
            <a:ext cx="4434840" cy="457200"/>
          </a:xfrm>
          <a:prstGeom prst="rect">
            <a:avLst/>
          </a:prstGeom>
          <a:solidFill>
            <a:srgbClr val="1E2761"/>
          </a:solidFill>
          <a:ln w="12700">
            <a:solidFill>
              <a:srgbClr val="FFFFFF"/>
            </a:solidFill>
            <a:prstDash val="solid"/>
          </a:ln>
        </p:spPr>
      </p:sp>
      <p:sp>
        <p:nvSpPr>
          <p:cNvPr id="8" name="Text 5"/>
          <p:cNvSpPr/>
          <p:nvPr/>
        </p:nvSpPr>
        <p:spPr>
          <a:xfrm>
            <a:off x="3310128" y="1234440"/>
            <a:ext cx="4215384" cy="457200"/>
          </a:xfrm>
          <a:prstGeom prst="rect">
            <a:avLst/>
          </a:prstGeom>
          <a:noFill/>
          <a:ln/>
        </p:spPr>
        <p:txBody>
          <a:bodyPr wrap="square" lIns="0" tIns="0" rIns="0" bIns="0" rtlCol="0" anchor="ctr"/>
          <a:lstStyle/>
          <a:p>
            <a:pPr indent="0" marL="0">
              <a:lnSpc>
                <a:spcPct val="100000"/>
              </a:lnSpc>
              <a:buNone/>
            </a:pPr>
            <a:r>
              <a:rPr lang="en-US" sz="1250" b="1" dirty="0">
                <a:solidFill>
                  <a:srgbClr val="FFFFFF"/>
                </a:solidFill>
                <a:latin typeface="Cambria" pitchFamily="34" charset="0"/>
                <a:ea typeface="Cambria" pitchFamily="34" charset="-122"/>
                <a:cs typeface="Cambria" pitchFamily="34" charset="-120"/>
              </a:rPr>
              <a:t>Direct CRM Write</a:t>
            </a:r>
            <a:endParaRPr lang="en-US" sz="1250" dirty="0"/>
          </a:p>
        </p:txBody>
      </p:sp>
      <p:sp>
        <p:nvSpPr>
          <p:cNvPr id="9" name="Shape 6"/>
          <p:cNvSpPr/>
          <p:nvPr/>
        </p:nvSpPr>
        <p:spPr>
          <a:xfrm>
            <a:off x="7635240" y="1234440"/>
            <a:ext cx="3794760" cy="457200"/>
          </a:xfrm>
          <a:prstGeom prst="rect">
            <a:avLst/>
          </a:prstGeom>
          <a:solidFill>
            <a:srgbClr val="1E2761"/>
          </a:solidFill>
          <a:ln w="12700">
            <a:solidFill>
              <a:srgbClr val="FFFFFF"/>
            </a:solidFill>
            <a:prstDash val="solid"/>
          </a:ln>
        </p:spPr>
      </p:sp>
      <p:sp>
        <p:nvSpPr>
          <p:cNvPr id="10" name="Text 7"/>
          <p:cNvSpPr/>
          <p:nvPr/>
        </p:nvSpPr>
        <p:spPr>
          <a:xfrm>
            <a:off x="7744968" y="1234440"/>
            <a:ext cx="3575304" cy="457200"/>
          </a:xfrm>
          <a:prstGeom prst="rect">
            <a:avLst/>
          </a:prstGeom>
          <a:noFill/>
          <a:ln/>
        </p:spPr>
        <p:txBody>
          <a:bodyPr wrap="square" lIns="0" tIns="0" rIns="0" bIns="0" rtlCol="0" anchor="ctr"/>
          <a:lstStyle/>
          <a:p>
            <a:pPr indent="0" marL="0">
              <a:lnSpc>
                <a:spcPct val="100000"/>
              </a:lnSpc>
              <a:buNone/>
            </a:pPr>
            <a:r>
              <a:rPr lang="en-US" sz="1250" b="1" dirty="0">
                <a:solidFill>
                  <a:srgbClr val="FFFFFF"/>
                </a:solidFill>
                <a:latin typeface="Cambria" pitchFamily="34" charset="0"/>
                <a:ea typeface="Cambria" pitchFamily="34" charset="-122"/>
                <a:cs typeface="Cambria" pitchFamily="34" charset="-120"/>
              </a:rPr>
              <a:t>Staged, Governed Sync (Recommended)</a:t>
            </a:r>
            <a:endParaRPr lang="en-US" sz="1250" dirty="0"/>
          </a:p>
        </p:txBody>
      </p:sp>
      <p:sp>
        <p:nvSpPr>
          <p:cNvPr id="11" name="Shape 8"/>
          <p:cNvSpPr/>
          <p:nvPr/>
        </p:nvSpPr>
        <p:spPr>
          <a:xfrm>
            <a:off x="548640" y="1691640"/>
            <a:ext cx="2651760" cy="566928"/>
          </a:xfrm>
          <a:prstGeom prst="rect">
            <a:avLst/>
          </a:prstGeom>
          <a:solidFill>
            <a:srgbClr val="F4F6FB"/>
          </a:solidFill>
          <a:ln w="12700">
            <a:solidFill>
              <a:srgbClr val="FFFFFF"/>
            </a:solidFill>
            <a:prstDash val="solid"/>
          </a:ln>
        </p:spPr>
      </p:sp>
      <p:sp>
        <p:nvSpPr>
          <p:cNvPr id="12" name="Text 9"/>
          <p:cNvSpPr/>
          <p:nvPr/>
        </p:nvSpPr>
        <p:spPr>
          <a:xfrm>
            <a:off x="658368" y="1691640"/>
            <a:ext cx="2432304" cy="566928"/>
          </a:xfrm>
          <a:prstGeom prst="rect">
            <a:avLst/>
          </a:prstGeom>
          <a:noFill/>
          <a:ln/>
        </p:spPr>
        <p:txBody>
          <a:bodyPr wrap="square" lIns="0" tIns="0" rIns="0" bIns="0" rtlCol="0" anchor="ctr"/>
          <a:lstStyle/>
          <a:p>
            <a:pPr indent="0" marL="0">
              <a:lnSpc>
                <a:spcPct val="100000"/>
              </a:lnSpc>
              <a:buNone/>
            </a:pPr>
            <a:r>
              <a:rPr lang="en-US" sz="1050" b="1" dirty="0">
                <a:solidFill>
                  <a:srgbClr val="1E2761"/>
                </a:solidFill>
                <a:latin typeface="Calibri" pitchFamily="34" charset="0"/>
                <a:ea typeface="Calibri" pitchFamily="34" charset="-122"/>
                <a:cs typeface="Calibri" pitchFamily="34" charset="-120"/>
              </a:rPr>
              <a:t>Data quality control</a:t>
            </a:r>
            <a:endParaRPr lang="en-US" sz="1050" dirty="0"/>
          </a:p>
        </p:txBody>
      </p:sp>
      <p:sp>
        <p:nvSpPr>
          <p:cNvPr id="13" name="Shape 10"/>
          <p:cNvSpPr/>
          <p:nvPr/>
        </p:nvSpPr>
        <p:spPr>
          <a:xfrm>
            <a:off x="3200400" y="1691640"/>
            <a:ext cx="4434840" cy="566928"/>
          </a:xfrm>
          <a:prstGeom prst="rect">
            <a:avLst/>
          </a:prstGeom>
          <a:solidFill>
            <a:srgbClr val="F4F6FB"/>
          </a:solidFill>
          <a:ln w="12700">
            <a:solidFill>
              <a:srgbClr val="FFFFFF"/>
            </a:solidFill>
            <a:prstDash val="solid"/>
          </a:ln>
        </p:spPr>
      </p:sp>
      <p:sp>
        <p:nvSpPr>
          <p:cNvPr id="14" name="Text 11"/>
          <p:cNvSpPr/>
          <p:nvPr/>
        </p:nvSpPr>
        <p:spPr>
          <a:xfrm>
            <a:off x="3310128" y="1691640"/>
            <a:ext cx="4215384" cy="566928"/>
          </a:xfrm>
          <a:prstGeom prst="rect">
            <a:avLst/>
          </a:prstGeom>
          <a:noFill/>
          <a:ln/>
        </p:spPr>
        <p:txBody>
          <a:bodyPr wrap="square" lIns="0" tIns="0" rIns="0" bIns="0" rtlCol="0" anchor="ctr"/>
          <a:lstStyle/>
          <a:p>
            <a:pPr indent="0" marL="0">
              <a:lnSpc>
                <a:spcPct val="100000"/>
              </a:lnSpc>
              <a:buNone/>
            </a:pPr>
            <a:r>
              <a:rPr lang="en-US" sz="1050" dirty="0">
                <a:solidFill>
                  <a:srgbClr val="333333"/>
                </a:solidFill>
                <a:latin typeface="Calibri" pitchFamily="34" charset="0"/>
                <a:ea typeface="Calibri" pitchFamily="34" charset="-122"/>
                <a:cs typeface="Calibri" pitchFamily="34" charset="-120"/>
              </a:rPr>
              <a:t>None. AI output lands directly in the system of record.</a:t>
            </a:r>
            <a:endParaRPr lang="en-US" sz="1050" dirty="0"/>
          </a:p>
        </p:txBody>
      </p:sp>
      <p:sp>
        <p:nvSpPr>
          <p:cNvPr id="15" name="Shape 12"/>
          <p:cNvSpPr/>
          <p:nvPr/>
        </p:nvSpPr>
        <p:spPr>
          <a:xfrm>
            <a:off x="7635240" y="1691640"/>
            <a:ext cx="3794760" cy="566928"/>
          </a:xfrm>
          <a:prstGeom prst="rect">
            <a:avLst/>
          </a:prstGeom>
          <a:solidFill>
            <a:srgbClr val="EFF6EE"/>
          </a:solidFill>
          <a:ln w="12700">
            <a:solidFill>
              <a:srgbClr val="FFFFFF"/>
            </a:solidFill>
            <a:prstDash val="solid"/>
          </a:ln>
        </p:spPr>
      </p:sp>
      <p:sp>
        <p:nvSpPr>
          <p:cNvPr id="16" name="Text 13"/>
          <p:cNvSpPr/>
          <p:nvPr/>
        </p:nvSpPr>
        <p:spPr>
          <a:xfrm>
            <a:off x="7744968" y="1691640"/>
            <a:ext cx="3575304" cy="566928"/>
          </a:xfrm>
          <a:prstGeom prst="rect">
            <a:avLst/>
          </a:prstGeom>
          <a:noFill/>
          <a:ln/>
        </p:spPr>
        <p:txBody>
          <a:bodyPr wrap="square" lIns="0" tIns="0" rIns="0" bIns="0" rtlCol="0" anchor="ctr"/>
          <a:lstStyle/>
          <a:p>
            <a:pPr indent="0" marL="0">
              <a:lnSpc>
                <a:spcPct val="100000"/>
              </a:lnSpc>
              <a:buNone/>
            </a:pPr>
            <a:r>
              <a:rPr lang="en-US" sz="1050" dirty="0">
                <a:solidFill>
                  <a:srgbClr val="333333"/>
                </a:solidFill>
                <a:latin typeface="Calibri" pitchFamily="34" charset="0"/>
                <a:ea typeface="Calibri" pitchFamily="34" charset="-122"/>
                <a:cs typeface="Calibri" pitchFamily="34" charset="-120"/>
              </a:rPr>
              <a:t>Rep confirms every record before it reaches the CRM.</a:t>
            </a:r>
            <a:endParaRPr lang="en-US" sz="1050" dirty="0"/>
          </a:p>
        </p:txBody>
      </p:sp>
      <p:sp>
        <p:nvSpPr>
          <p:cNvPr id="17" name="Shape 14"/>
          <p:cNvSpPr/>
          <p:nvPr/>
        </p:nvSpPr>
        <p:spPr>
          <a:xfrm>
            <a:off x="548640" y="2258568"/>
            <a:ext cx="2651760" cy="566928"/>
          </a:xfrm>
          <a:prstGeom prst="rect">
            <a:avLst/>
          </a:prstGeom>
          <a:solidFill>
            <a:srgbClr val="F4F6FB"/>
          </a:solidFill>
          <a:ln w="12700">
            <a:solidFill>
              <a:srgbClr val="FFFFFF"/>
            </a:solidFill>
            <a:prstDash val="solid"/>
          </a:ln>
        </p:spPr>
      </p:sp>
      <p:sp>
        <p:nvSpPr>
          <p:cNvPr id="18" name="Text 15"/>
          <p:cNvSpPr/>
          <p:nvPr/>
        </p:nvSpPr>
        <p:spPr>
          <a:xfrm>
            <a:off x="658368" y="2258568"/>
            <a:ext cx="2432304" cy="566928"/>
          </a:xfrm>
          <a:prstGeom prst="rect">
            <a:avLst/>
          </a:prstGeom>
          <a:noFill/>
          <a:ln/>
        </p:spPr>
        <p:txBody>
          <a:bodyPr wrap="square" lIns="0" tIns="0" rIns="0" bIns="0" rtlCol="0" anchor="ctr"/>
          <a:lstStyle/>
          <a:p>
            <a:pPr indent="0" marL="0">
              <a:lnSpc>
                <a:spcPct val="100000"/>
              </a:lnSpc>
              <a:buNone/>
            </a:pPr>
            <a:r>
              <a:rPr lang="en-US" sz="1050" b="1" dirty="0">
                <a:solidFill>
                  <a:srgbClr val="1E2761"/>
                </a:solidFill>
                <a:latin typeface="Calibri" pitchFamily="34" charset="0"/>
                <a:ea typeface="Calibri" pitchFamily="34" charset="-122"/>
                <a:cs typeface="Calibri" pitchFamily="34" charset="-120"/>
              </a:rPr>
              <a:t>AI error containment</a:t>
            </a:r>
            <a:endParaRPr lang="en-US" sz="1050" dirty="0"/>
          </a:p>
        </p:txBody>
      </p:sp>
      <p:sp>
        <p:nvSpPr>
          <p:cNvPr id="19" name="Shape 16"/>
          <p:cNvSpPr/>
          <p:nvPr/>
        </p:nvSpPr>
        <p:spPr>
          <a:xfrm>
            <a:off x="3200400" y="2258568"/>
            <a:ext cx="4434840" cy="566928"/>
          </a:xfrm>
          <a:prstGeom prst="rect">
            <a:avLst/>
          </a:prstGeom>
          <a:solidFill>
            <a:srgbClr val="F4F6FB"/>
          </a:solidFill>
          <a:ln w="12700">
            <a:solidFill>
              <a:srgbClr val="FFFFFF"/>
            </a:solidFill>
            <a:prstDash val="solid"/>
          </a:ln>
        </p:spPr>
      </p:sp>
      <p:sp>
        <p:nvSpPr>
          <p:cNvPr id="20" name="Text 17"/>
          <p:cNvSpPr/>
          <p:nvPr/>
        </p:nvSpPr>
        <p:spPr>
          <a:xfrm>
            <a:off x="3310128" y="2258568"/>
            <a:ext cx="4215384" cy="566928"/>
          </a:xfrm>
          <a:prstGeom prst="rect">
            <a:avLst/>
          </a:prstGeom>
          <a:noFill/>
          <a:ln/>
        </p:spPr>
        <p:txBody>
          <a:bodyPr wrap="square" lIns="0" tIns="0" rIns="0" bIns="0" rtlCol="0" anchor="ctr"/>
          <a:lstStyle/>
          <a:p>
            <a:pPr indent="0" marL="0">
              <a:lnSpc>
                <a:spcPct val="100000"/>
              </a:lnSpc>
              <a:buNone/>
            </a:pPr>
            <a:r>
              <a:rPr lang="en-US" sz="1050" dirty="0">
                <a:solidFill>
                  <a:srgbClr val="333333"/>
                </a:solidFill>
                <a:latin typeface="Calibri" pitchFamily="34" charset="0"/>
                <a:ea typeface="Calibri" pitchFamily="34" charset="-122"/>
                <a:cs typeface="Calibri" pitchFamily="34" charset="-120"/>
              </a:rPr>
              <a:t>An extraction error becomes account history immediately.</a:t>
            </a:r>
            <a:endParaRPr lang="en-US" sz="1050" dirty="0"/>
          </a:p>
        </p:txBody>
      </p:sp>
      <p:sp>
        <p:nvSpPr>
          <p:cNvPr id="21" name="Shape 18"/>
          <p:cNvSpPr/>
          <p:nvPr/>
        </p:nvSpPr>
        <p:spPr>
          <a:xfrm>
            <a:off x="7635240" y="2258568"/>
            <a:ext cx="3794760" cy="566928"/>
          </a:xfrm>
          <a:prstGeom prst="rect">
            <a:avLst/>
          </a:prstGeom>
          <a:solidFill>
            <a:srgbClr val="EFF6EE"/>
          </a:solidFill>
          <a:ln w="12700">
            <a:solidFill>
              <a:srgbClr val="FFFFFF"/>
            </a:solidFill>
            <a:prstDash val="solid"/>
          </a:ln>
        </p:spPr>
      </p:sp>
      <p:sp>
        <p:nvSpPr>
          <p:cNvPr id="22" name="Text 19"/>
          <p:cNvSpPr/>
          <p:nvPr/>
        </p:nvSpPr>
        <p:spPr>
          <a:xfrm>
            <a:off x="7744968" y="2258568"/>
            <a:ext cx="3575304" cy="566928"/>
          </a:xfrm>
          <a:prstGeom prst="rect">
            <a:avLst/>
          </a:prstGeom>
          <a:noFill/>
          <a:ln/>
        </p:spPr>
        <p:txBody>
          <a:bodyPr wrap="square" lIns="0" tIns="0" rIns="0" bIns="0" rtlCol="0" anchor="ctr"/>
          <a:lstStyle/>
          <a:p>
            <a:pPr indent="0" marL="0">
              <a:lnSpc>
                <a:spcPct val="100000"/>
              </a:lnSpc>
              <a:buNone/>
            </a:pPr>
            <a:r>
              <a:rPr lang="en-US" sz="1050" dirty="0">
                <a:solidFill>
                  <a:srgbClr val="333333"/>
                </a:solidFill>
                <a:latin typeface="Calibri" pitchFamily="34" charset="0"/>
                <a:ea typeface="Calibri" pitchFamily="34" charset="-122"/>
                <a:cs typeface="Calibri" pitchFamily="34" charset="-120"/>
              </a:rPr>
              <a:t>Errors are caught and corrected before they leave staging.</a:t>
            </a:r>
            <a:endParaRPr lang="en-US" sz="1050" dirty="0"/>
          </a:p>
        </p:txBody>
      </p:sp>
      <p:sp>
        <p:nvSpPr>
          <p:cNvPr id="23" name="Shape 20"/>
          <p:cNvSpPr/>
          <p:nvPr/>
        </p:nvSpPr>
        <p:spPr>
          <a:xfrm>
            <a:off x="548640" y="2825496"/>
            <a:ext cx="2651760" cy="566928"/>
          </a:xfrm>
          <a:prstGeom prst="rect">
            <a:avLst/>
          </a:prstGeom>
          <a:solidFill>
            <a:srgbClr val="F4F6FB"/>
          </a:solidFill>
          <a:ln w="12700">
            <a:solidFill>
              <a:srgbClr val="FFFFFF"/>
            </a:solidFill>
            <a:prstDash val="solid"/>
          </a:ln>
        </p:spPr>
      </p:sp>
      <p:sp>
        <p:nvSpPr>
          <p:cNvPr id="24" name="Text 21"/>
          <p:cNvSpPr/>
          <p:nvPr/>
        </p:nvSpPr>
        <p:spPr>
          <a:xfrm>
            <a:off x="658368" y="2825496"/>
            <a:ext cx="2432304" cy="566928"/>
          </a:xfrm>
          <a:prstGeom prst="rect">
            <a:avLst/>
          </a:prstGeom>
          <a:noFill/>
          <a:ln/>
        </p:spPr>
        <p:txBody>
          <a:bodyPr wrap="square" lIns="0" tIns="0" rIns="0" bIns="0" rtlCol="0" anchor="ctr"/>
          <a:lstStyle/>
          <a:p>
            <a:pPr indent="0" marL="0">
              <a:lnSpc>
                <a:spcPct val="100000"/>
              </a:lnSpc>
              <a:buNone/>
            </a:pPr>
            <a:r>
              <a:rPr lang="en-US" sz="1050" b="1" dirty="0">
                <a:solidFill>
                  <a:srgbClr val="1E2761"/>
                </a:solidFill>
                <a:latin typeface="Calibri" pitchFamily="34" charset="0"/>
                <a:ea typeface="Calibri" pitchFamily="34" charset="-122"/>
                <a:cs typeface="Calibri" pitchFamily="34" charset="-120"/>
              </a:rPr>
              <a:t>Audit trail</a:t>
            </a:r>
            <a:endParaRPr lang="en-US" sz="1050" dirty="0"/>
          </a:p>
        </p:txBody>
      </p:sp>
      <p:sp>
        <p:nvSpPr>
          <p:cNvPr id="25" name="Shape 22"/>
          <p:cNvSpPr/>
          <p:nvPr/>
        </p:nvSpPr>
        <p:spPr>
          <a:xfrm>
            <a:off x="3200400" y="2825496"/>
            <a:ext cx="4434840" cy="566928"/>
          </a:xfrm>
          <a:prstGeom prst="rect">
            <a:avLst/>
          </a:prstGeom>
          <a:solidFill>
            <a:srgbClr val="F4F6FB"/>
          </a:solidFill>
          <a:ln w="12700">
            <a:solidFill>
              <a:srgbClr val="FFFFFF"/>
            </a:solidFill>
            <a:prstDash val="solid"/>
          </a:ln>
        </p:spPr>
      </p:sp>
      <p:sp>
        <p:nvSpPr>
          <p:cNvPr id="26" name="Text 23"/>
          <p:cNvSpPr/>
          <p:nvPr/>
        </p:nvSpPr>
        <p:spPr>
          <a:xfrm>
            <a:off x="3310128" y="2825496"/>
            <a:ext cx="4215384" cy="566928"/>
          </a:xfrm>
          <a:prstGeom prst="rect">
            <a:avLst/>
          </a:prstGeom>
          <a:noFill/>
          <a:ln/>
        </p:spPr>
        <p:txBody>
          <a:bodyPr wrap="square" lIns="0" tIns="0" rIns="0" bIns="0" rtlCol="0" anchor="ctr"/>
          <a:lstStyle/>
          <a:p>
            <a:pPr indent="0" marL="0">
              <a:lnSpc>
                <a:spcPct val="100000"/>
              </a:lnSpc>
              <a:buNone/>
            </a:pPr>
            <a:r>
              <a:rPr lang="en-US" sz="1050" dirty="0">
                <a:solidFill>
                  <a:srgbClr val="333333"/>
                </a:solidFill>
                <a:latin typeface="Calibri" pitchFamily="34" charset="0"/>
                <a:ea typeface="Calibri" pitchFamily="34" charset="-122"/>
                <a:cs typeface="Calibri" pitchFamily="34" charset="-120"/>
              </a:rPr>
              <a:t>Difficult to distinguish AI-written from rep-written fields.</a:t>
            </a:r>
            <a:endParaRPr lang="en-US" sz="1050" dirty="0"/>
          </a:p>
        </p:txBody>
      </p:sp>
      <p:sp>
        <p:nvSpPr>
          <p:cNvPr id="27" name="Shape 24"/>
          <p:cNvSpPr/>
          <p:nvPr/>
        </p:nvSpPr>
        <p:spPr>
          <a:xfrm>
            <a:off x="7635240" y="2825496"/>
            <a:ext cx="3794760" cy="566928"/>
          </a:xfrm>
          <a:prstGeom prst="rect">
            <a:avLst/>
          </a:prstGeom>
          <a:solidFill>
            <a:srgbClr val="EFF6EE"/>
          </a:solidFill>
          <a:ln w="12700">
            <a:solidFill>
              <a:srgbClr val="FFFFFF"/>
            </a:solidFill>
            <a:prstDash val="solid"/>
          </a:ln>
        </p:spPr>
      </p:sp>
      <p:sp>
        <p:nvSpPr>
          <p:cNvPr id="28" name="Text 25"/>
          <p:cNvSpPr/>
          <p:nvPr/>
        </p:nvSpPr>
        <p:spPr>
          <a:xfrm>
            <a:off x="7744968" y="2825496"/>
            <a:ext cx="3575304" cy="566928"/>
          </a:xfrm>
          <a:prstGeom prst="rect">
            <a:avLst/>
          </a:prstGeom>
          <a:noFill/>
          <a:ln/>
        </p:spPr>
        <p:txBody>
          <a:bodyPr wrap="square" lIns="0" tIns="0" rIns="0" bIns="0" rtlCol="0" anchor="ctr"/>
          <a:lstStyle/>
          <a:p>
            <a:pPr indent="0" marL="0">
              <a:lnSpc>
                <a:spcPct val="100000"/>
              </a:lnSpc>
              <a:buNone/>
            </a:pPr>
            <a:r>
              <a:rPr lang="en-US" sz="1050" dirty="0">
                <a:solidFill>
                  <a:srgbClr val="333333"/>
                </a:solidFill>
                <a:latin typeface="Calibri" pitchFamily="34" charset="0"/>
                <a:ea typeface="Calibri" pitchFamily="34" charset="-122"/>
                <a:cs typeface="Calibri" pitchFamily="34" charset="-120"/>
              </a:rPr>
              <a:t>Every record carries origin, confidence, and confirmation status.</a:t>
            </a:r>
            <a:endParaRPr lang="en-US" sz="1050" dirty="0"/>
          </a:p>
        </p:txBody>
      </p:sp>
      <p:sp>
        <p:nvSpPr>
          <p:cNvPr id="29" name="Shape 26"/>
          <p:cNvSpPr/>
          <p:nvPr/>
        </p:nvSpPr>
        <p:spPr>
          <a:xfrm>
            <a:off x="548640" y="3392424"/>
            <a:ext cx="2651760" cy="566928"/>
          </a:xfrm>
          <a:prstGeom prst="rect">
            <a:avLst/>
          </a:prstGeom>
          <a:solidFill>
            <a:srgbClr val="F4F6FB"/>
          </a:solidFill>
          <a:ln w="12700">
            <a:solidFill>
              <a:srgbClr val="FFFFFF"/>
            </a:solidFill>
            <a:prstDash val="solid"/>
          </a:ln>
        </p:spPr>
      </p:sp>
      <p:sp>
        <p:nvSpPr>
          <p:cNvPr id="30" name="Text 27"/>
          <p:cNvSpPr/>
          <p:nvPr/>
        </p:nvSpPr>
        <p:spPr>
          <a:xfrm>
            <a:off x="658368" y="3392424"/>
            <a:ext cx="2432304" cy="566928"/>
          </a:xfrm>
          <a:prstGeom prst="rect">
            <a:avLst/>
          </a:prstGeom>
          <a:noFill/>
          <a:ln/>
        </p:spPr>
        <p:txBody>
          <a:bodyPr wrap="square" lIns="0" tIns="0" rIns="0" bIns="0" rtlCol="0" anchor="ctr"/>
          <a:lstStyle/>
          <a:p>
            <a:pPr indent="0" marL="0">
              <a:lnSpc>
                <a:spcPct val="100000"/>
              </a:lnSpc>
              <a:buNone/>
            </a:pPr>
            <a:r>
              <a:rPr lang="en-US" sz="1050" b="1" dirty="0">
                <a:solidFill>
                  <a:srgbClr val="1E2761"/>
                </a:solidFill>
                <a:latin typeface="Calibri" pitchFamily="34" charset="0"/>
                <a:ea typeface="Calibri" pitchFamily="34" charset="-122"/>
                <a:cs typeface="Calibri" pitchFamily="34" charset="-120"/>
              </a:rPr>
              <a:t>Rollback if wrong</a:t>
            </a:r>
            <a:endParaRPr lang="en-US" sz="1050" dirty="0"/>
          </a:p>
        </p:txBody>
      </p:sp>
      <p:sp>
        <p:nvSpPr>
          <p:cNvPr id="31" name="Shape 28"/>
          <p:cNvSpPr/>
          <p:nvPr/>
        </p:nvSpPr>
        <p:spPr>
          <a:xfrm>
            <a:off x="3200400" y="3392424"/>
            <a:ext cx="4434840" cy="566928"/>
          </a:xfrm>
          <a:prstGeom prst="rect">
            <a:avLst/>
          </a:prstGeom>
          <a:solidFill>
            <a:srgbClr val="F4F6FB"/>
          </a:solidFill>
          <a:ln w="12700">
            <a:solidFill>
              <a:srgbClr val="FFFFFF"/>
            </a:solidFill>
            <a:prstDash val="solid"/>
          </a:ln>
        </p:spPr>
      </p:sp>
      <p:sp>
        <p:nvSpPr>
          <p:cNvPr id="32" name="Text 29"/>
          <p:cNvSpPr/>
          <p:nvPr/>
        </p:nvSpPr>
        <p:spPr>
          <a:xfrm>
            <a:off x="3310128" y="3392424"/>
            <a:ext cx="4215384" cy="566928"/>
          </a:xfrm>
          <a:prstGeom prst="rect">
            <a:avLst/>
          </a:prstGeom>
          <a:noFill/>
          <a:ln/>
        </p:spPr>
        <p:txBody>
          <a:bodyPr wrap="square" lIns="0" tIns="0" rIns="0" bIns="0" rtlCol="0" anchor="ctr"/>
          <a:lstStyle/>
          <a:p>
            <a:pPr indent="0" marL="0">
              <a:lnSpc>
                <a:spcPct val="100000"/>
              </a:lnSpc>
              <a:buNone/>
            </a:pPr>
            <a:r>
              <a:rPr lang="en-US" sz="1050" dirty="0">
                <a:solidFill>
                  <a:srgbClr val="333333"/>
                </a:solidFill>
                <a:latin typeface="Calibri" pitchFamily="34" charset="0"/>
                <a:ea typeface="Calibri" pitchFamily="34" charset="-122"/>
                <a:cs typeface="Calibri" pitchFamily="34" charset="-120"/>
              </a:rPr>
              <a:t>Requires manual CRM correction after the fact.</a:t>
            </a:r>
            <a:endParaRPr lang="en-US" sz="1050" dirty="0"/>
          </a:p>
        </p:txBody>
      </p:sp>
      <p:sp>
        <p:nvSpPr>
          <p:cNvPr id="33" name="Shape 30"/>
          <p:cNvSpPr/>
          <p:nvPr/>
        </p:nvSpPr>
        <p:spPr>
          <a:xfrm>
            <a:off x="7635240" y="3392424"/>
            <a:ext cx="3794760" cy="566928"/>
          </a:xfrm>
          <a:prstGeom prst="rect">
            <a:avLst/>
          </a:prstGeom>
          <a:solidFill>
            <a:srgbClr val="EFF6EE"/>
          </a:solidFill>
          <a:ln w="12700">
            <a:solidFill>
              <a:srgbClr val="FFFFFF"/>
            </a:solidFill>
            <a:prstDash val="solid"/>
          </a:ln>
        </p:spPr>
      </p:sp>
      <p:sp>
        <p:nvSpPr>
          <p:cNvPr id="34" name="Text 31"/>
          <p:cNvSpPr/>
          <p:nvPr/>
        </p:nvSpPr>
        <p:spPr>
          <a:xfrm>
            <a:off x="7744968" y="3392424"/>
            <a:ext cx="3575304" cy="566928"/>
          </a:xfrm>
          <a:prstGeom prst="rect">
            <a:avLst/>
          </a:prstGeom>
          <a:noFill/>
          <a:ln/>
        </p:spPr>
        <p:txBody>
          <a:bodyPr wrap="square" lIns="0" tIns="0" rIns="0" bIns="0" rtlCol="0" anchor="ctr"/>
          <a:lstStyle/>
          <a:p>
            <a:pPr indent="0" marL="0">
              <a:lnSpc>
                <a:spcPct val="100000"/>
              </a:lnSpc>
              <a:buNone/>
            </a:pPr>
            <a:r>
              <a:rPr lang="en-US" sz="1050" dirty="0">
                <a:solidFill>
                  <a:srgbClr val="333333"/>
                </a:solidFill>
                <a:latin typeface="Calibri" pitchFamily="34" charset="0"/>
                <a:ea typeface="Calibri" pitchFamily="34" charset="-122"/>
                <a:cs typeface="Calibri" pitchFamily="34" charset="-120"/>
              </a:rPr>
              <a:t>Simply not confirmed; never reaches the CRM.</a:t>
            </a:r>
            <a:endParaRPr lang="en-US" sz="1050" dirty="0"/>
          </a:p>
        </p:txBody>
      </p:sp>
      <p:sp>
        <p:nvSpPr>
          <p:cNvPr id="35" name="Shape 32"/>
          <p:cNvSpPr/>
          <p:nvPr/>
        </p:nvSpPr>
        <p:spPr>
          <a:xfrm>
            <a:off x="548640" y="3959352"/>
            <a:ext cx="2651760" cy="566928"/>
          </a:xfrm>
          <a:prstGeom prst="rect">
            <a:avLst/>
          </a:prstGeom>
          <a:solidFill>
            <a:srgbClr val="F4F6FB"/>
          </a:solidFill>
          <a:ln w="12700">
            <a:solidFill>
              <a:srgbClr val="FFFFFF"/>
            </a:solidFill>
            <a:prstDash val="solid"/>
          </a:ln>
        </p:spPr>
      </p:sp>
      <p:sp>
        <p:nvSpPr>
          <p:cNvPr id="36" name="Text 33"/>
          <p:cNvSpPr/>
          <p:nvPr/>
        </p:nvSpPr>
        <p:spPr>
          <a:xfrm>
            <a:off x="658368" y="3959352"/>
            <a:ext cx="2432304" cy="566928"/>
          </a:xfrm>
          <a:prstGeom prst="rect">
            <a:avLst/>
          </a:prstGeom>
          <a:noFill/>
          <a:ln/>
        </p:spPr>
        <p:txBody>
          <a:bodyPr wrap="square" lIns="0" tIns="0" rIns="0" bIns="0" rtlCol="0" anchor="ctr"/>
          <a:lstStyle/>
          <a:p>
            <a:pPr indent="0" marL="0">
              <a:lnSpc>
                <a:spcPct val="100000"/>
              </a:lnSpc>
              <a:buNone/>
            </a:pPr>
            <a:r>
              <a:rPr lang="en-US" sz="1050" b="1" dirty="0">
                <a:solidFill>
                  <a:srgbClr val="1E2761"/>
                </a:solidFill>
                <a:latin typeface="Calibri" pitchFamily="34" charset="0"/>
                <a:ea typeface="Calibri" pitchFamily="34" charset="-122"/>
                <a:cs typeface="Calibri" pitchFamily="34" charset="-120"/>
              </a:rPr>
              <a:t>Schema maintainability</a:t>
            </a:r>
            <a:endParaRPr lang="en-US" sz="1050" dirty="0"/>
          </a:p>
        </p:txBody>
      </p:sp>
      <p:sp>
        <p:nvSpPr>
          <p:cNvPr id="37" name="Shape 34"/>
          <p:cNvSpPr/>
          <p:nvPr/>
        </p:nvSpPr>
        <p:spPr>
          <a:xfrm>
            <a:off x="3200400" y="3959352"/>
            <a:ext cx="4434840" cy="566928"/>
          </a:xfrm>
          <a:prstGeom prst="rect">
            <a:avLst/>
          </a:prstGeom>
          <a:solidFill>
            <a:srgbClr val="F4F6FB"/>
          </a:solidFill>
          <a:ln w="12700">
            <a:solidFill>
              <a:srgbClr val="FFFFFF"/>
            </a:solidFill>
            <a:prstDash val="solid"/>
          </a:ln>
        </p:spPr>
      </p:sp>
      <p:sp>
        <p:nvSpPr>
          <p:cNvPr id="38" name="Text 35"/>
          <p:cNvSpPr/>
          <p:nvPr/>
        </p:nvSpPr>
        <p:spPr>
          <a:xfrm>
            <a:off x="3310128" y="3959352"/>
            <a:ext cx="4215384" cy="566928"/>
          </a:xfrm>
          <a:prstGeom prst="rect">
            <a:avLst/>
          </a:prstGeom>
          <a:noFill/>
          <a:ln/>
        </p:spPr>
        <p:txBody>
          <a:bodyPr wrap="square" lIns="0" tIns="0" rIns="0" bIns="0" rtlCol="0" anchor="ctr"/>
          <a:lstStyle/>
          <a:p>
            <a:pPr indent="0" marL="0">
              <a:lnSpc>
                <a:spcPct val="100000"/>
              </a:lnSpc>
              <a:buNone/>
            </a:pPr>
            <a:r>
              <a:rPr lang="en-US" sz="1050" dirty="0">
                <a:solidFill>
                  <a:srgbClr val="333333"/>
                </a:solidFill>
                <a:latin typeface="Calibri" pitchFamily="34" charset="0"/>
                <a:ea typeface="Calibri" pitchFamily="34" charset="-122"/>
                <a:cs typeface="Calibri" pitchFamily="34" charset="-120"/>
              </a:rPr>
              <a:t>Schema changes risk touching CRM integration directly.</a:t>
            </a:r>
            <a:endParaRPr lang="en-US" sz="1050" dirty="0"/>
          </a:p>
        </p:txBody>
      </p:sp>
      <p:sp>
        <p:nvSpPr>
          <p:cNvPr id="39" name="Shape 36"/>
          <p:cNvSpPr/>
          <p:nvPr/>
        </p:nvSpPr>
        <p:spPr>
          <a:xfrm>
            <a:off x="7635240" y="3959352"/>
            <a:ext cx="3794760" cy="566928"/>
          </a:xfrm>
          <a:prstGeom prst="rect">
            <a:avLst/>
          </a:prstGeom>
          <a:solidFill>
            <a:srgbClr val="EFF6EE"/>
          </a:solidFill>
          <a:ln w="12700">
            <a:solidFill>
              <a:srgbClr val="FFFFFF"/>
            </a:solidFill>
            <a:prstDash val="solid"/>
          </a:ln>
        </p:spPr>
      </p:sp>
      <p:sp>
        <p:nvSpPr>
          <p:cNvPr id="40" name="Text 37"/>
          <p:cNvSpPr/>
          <p:nvPr/>
        </p:nvSpPr>
        <p:spPr>
          <a:xfrm>
            <a:off x="7744968" y="3959352"/>
            <a:ext cx="3575304" cy="566928"/>
          </a:xfrm>
          <a:prstGeom prst="rect">
            <a:avLst/>
          </a:prstGeom>
          <a:noFill/>
          <a:ln/>
        </p:spPr>
        <p:txBody>
          <a:bodyPr wrap="square" lIns="0" tIns="0" rIns="0" bIns="0" rtlCol="0" anchor="ctr"/>
          <a:lstStyle/>
          <a:p>
            <a:pPr indent="0" marL="0">
              <a:lnSpc>
                <a:spcPct val="100000"/>
              </a:lnSpc>
              <a:buNone/>
            </a:pPr>
            <a:r>
              <a:rPr lang="en-US" sz="1050" dirty="0">
                <a:solidFill>
                  <a:srgbClr val="333333"/>
                </a:solidFill>
                <a:latin typeface="Calibri" pitchFamily="34" charset="0"/>
                <a:ea typeface="Calibri" pitchFamily="34" charset="-122"/>
                <a:cs typeface="Calibri" pitchFamily="34" charset="-120"/>
              </a:rPr>
              <a:t>Schema evolves in staging without touching CRM logic.</a:t>
            </a:r>
            <a:endParaRPr lang="en-US" sz="1050" dirty="0"/>
          </a:p>
        </p:txBody>
      </p:sp>
      <p:sp>
        <p:nvSpPr>
          <p:cNvPr id="41" name="Shape 38"/>
          <p:cNvSpPr/>
          <p:nvPr/>
        </p:nvSpPr>
        <p:spPr>
          <a:xfrm>
            <a:off x="548640" y="4709160"/>
            <a:ext cx="11064240" cy="777240"/>
          </a:xfrm>
          <a:prstGeom prst="roundRect">
            <a:avLst>
              <a:gd name="adj" fmla="val 7059"/>
            </a:avLst>
          </a:prstGeom>
          <a:solidFill>
            <a:srgbClr val="1E2761"/>
          </a:solidFill>
          <a:ln/>
        </p:spPr>
      </p:sp>
      <p:sp>
        <p:nvSpPr>
          <p:cNvPr id="42" name="Text 39"/>
          <p:cNvSpPr/>
          <p:nvPr/>
        </p:nvSpPr>
        <p:spPr>
          <a:xfrm>
            <a:off x="822960" y="4709160"/>
            <a:ext cx="10515600" cy="777240"/>
          </a:xfrm>
          <a:prstGeom prst="rect">
            <a:avLst/>
          </a:prstGeom>
          <a:noFill/>
          <a:ln/>
        </p:spPr>
        <p:txBody>
          <a:bodyPr wrap="square" lIns="0" tIns="0" rIns="0" bIns="0" rtlCol="0" anchor="ctr"/>
          <a:lstStyle/>
          <a:p>
            <a:pPr indent="0" marL="0">
              <a:lnSpc>
                <a:spcPct val="105000"/>
              </a:lnSpc>
              <a:buNone/>
            </a:pPr>
            <a:r>
              <a:rPr lang="en-US" sz="1200" i="1" dirty="0">
                <a:solidFill>
                  <a:srgbClr val="FFFFFF"/>
                </a:solidFill>
                <a:latin typeface="Calibri" pitchFamily="34" charset="0"/>
                <a:ea typeface="Calibri" pitchFamily="34" charset="-122"/>
                <a:cs typeface="Calibri" pitchFamily="34" charset="-120"/>
              </a:rPr>
              <a:t>A new, AI-generated data source should not write directly into the system of record. Direct write couples an experimental capture and extraction process to production CRM data, with no correction point before an error becomes account history.</a:t>
            </a:r>
            <a:endParaRPr lang="en-US" sz="1200" dirty="0"/>
          </a:p>
        </p:txBody>
      </p:sp>
      <p:sp>
        <p:nvSpPr>
          <p:cNvPr id="43" name="Text 40"/>
          <p:cNvSpPr/>
          <p:nvPr/>
        </p:nvSpPr>
        <p:spPr>
          <a:xfrm>
            <a:off x="11521440" y="6446520"/>
            <a:ext cx="36576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1E2761"/>
          </a:solidFill>
          <a:ln/>
        </p:spPr>
      </p:sp>
      <p:pic>
        <p:nvPicPr>
          <p:cNvPr id="3" name="Image 0" descr="/home/claude/icons/FaNetworkWired.png">    </p:cNvPr>
          <p:cNvPicPr>
            <a:picLocks noChangeAspect="1"/>
          </p:cNvPicPr>
          <p:nvPr/>
        </p:nvPicPr>
        <p:blipFill>
          <a:blip r:embed="rId1"/>
          <a:stretch>
            <a:fillRect/>
          </a:stretch>
        </p:blipFill>
        <p:spPr>
          <a:xfrm>
            <a:off x="576072" y="502920"/>
            <a:ext cx="237744" cy="237744"/>
          </a:xfrm>
          <a:prstGeom prst="rect">
            <a:avLst/>
          </a:prstGeom>
        </p:spPr>
      </p:pic>
      <p:sp>
        <p:nvSpPr>
          <p:cNvPr id="4" name="Text 1"/>
          <p:cNvSpPr/>
          <p:nvPr/>
        </p:nvSpPr>
        <p:spPr>
          <a:xfrm>
            <a:off x="1051560" y="320040"/>
            <a:ext cx="10652760" cy="594360"/>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Answering the Network Question: Zero Trust, Not Just VPN</a:t>
            </a:r>
            <a:endParaRPr lang="en-US" sz="2800" dirty="0"/>
          </a:p>
        </p:txBody>
      </p:sp>
      <p:sp>
        <p:nvSpPr>
          <p:cNvPr id="5" name="Shape 2"/>
          <p:cNvSpPr/>
          <p:nvPr/>
        </p:nvSpPr>
        <p:spPr>
          <a:xfrm>
            <a:off x="548640" y="1371600"/>
            <a:ext cx="3520440" cy="2743200"/>
          </a:xfrm>
          <a:prstGeom prst="roundRect">
            <a:avLst>
              <a:gd name="adj" fmla="val 2667"/>
            </a:avLst>
          </a:prstGeom>
          <a:solidFill>
            <a:srgbClr val="F4F6FB"/>
          </a:solidFill>
          <a:ln w="9525">
            <a:solidFill>
              <a:srgbClr val="DCE3F0"/>
            </a:solidFill>
            <a:prstDash val="solid"/>
          </a:ln>
          <a:effectLst>
            <a:outerShdw sx="100000" sy="100000" kx="0" ky="0" algn="bl" rotWithShape="0" blurRad="76200" dist="25400" dir="5400000">
              <a:srgbClr val="1E2761">
                <a:alpha val="12000"/>
              </a:srgbClr>
            </a:outerShdw>
          </a:effectLst>
        </p:spPr>
      </p:sp>
      <p:sp>
        <p:nvSpPr>
          <p:cNvPr id="6" name="Shape 3"/>
          <p:cNvSpPr/>
          <p:nvPr/>
        </p:nvSpPr>
        <p:spPr>
          <a:xfrm>
            <a:off x="2011680" y="1668780"/>
            <a:ext cx="594360" cy="594360"/>
          </a:xfrm>
          <a:prstGeom prst="ellipse">
            <a:avLst/>
          </a:prstGeom>
          <a:solidFill>
            <a:srgbClr val="1E2761"/>
          </a:solidFill>
          <a:ln/>
        </p:spPr>
      </p:sp>
      <p:pic>
        <p:nvPicPr>
          <p:cNvPr id="7" name="Image 1" descr="/home/claude/icons/FaMobileScreenButton.png">    </p:cNvPr>
          <p:cNvPicPr>
            <a:picLocks noChangeAspect="1"/>
          </p:cNvPicPr>
          <p:nvPr/>
        </p:nvPicPr>
        <p:blipFill>
          <a:blip r:embed="rId2"/>
          <a:stretch>
            <a:fillRect/>
          </a:stretch>
        </p:blipFill>
        <p:spPr>
          <a:xfrm>
            <a:off x="2154326" y="1811426"/>
            <a:ext cx="309067" cy="309067"/>
          </a:xfrm>
          <a:prstGeom prst="rect">
            <a:avLst/>
          </a:prstGeom>
        </p:spPr>
      </p:pic>
      <p:sp>
        <p:nvSpPr>
          <p:cNvPr id="8" name="Text 4"/>
          <p:cNvSpPr/>
          <p:nvPr/>
        </p:nvSpPr>
        <p:spPr>
          <a:xfrm>
            <a:off x="777240" y="2514600"/>
            <a:ext cx="3063240" cy="457200"/>
          </a:xfrm>
          <a:prstGeom prst="rect">
            <a:avLst/>
          </a:prstGeom>
          <a:noFill/>
          <a:ln/>
        </p:spPr>
        <p:txBody>
          <a:bodyPr wrap="square" lIns="0" tIns="0" rIns="0" bIns="0" rtlCol="0" anchor="ctr"/>
          <a:lstStyle/>
          <a:p>
            <a:pPr algn="ctr" indent="0" marL="0">
              <a:buNone/>
            </a:pPr>
            <a:r>
              <a:rPr lang="en-US" sz="1400" b="1" dirty="0">
                <a:solidFill>
                  <a:srgbClr val="1E2761"/>
                </a:solidFill>
                <a:latin typeface="Cambria" pitchFamily="34" charset="0"/>
                <a:ea typeface="Cambria" pitchFamily="34" charset="-122"/>
                <a:cs typeface="Cambria" pitchFamily="34" charset="-120"/>
              </a:rPr>
              <a:t>Device compliance</a:t>
            </a:r>
            <a:endParaRPr lang="en-US" sz="1400" dirty="0"/>
          </a:p>
        </p:txBody>
      </p:sp>
      <p:sp>
        <p:nvSpPr>
          <p:cNvPr id="9" name="Text 5"/>
          <p:cNvSpPr/>
          <p:nvPr/>
        </p:nvSpPr>
        <p:spPr>
          <a:xfrm>
            <a:off x="822960" y="3017520"/>
            <a:ext cx="2971800" cy="960120"/>
          </a:xfrm>
          <a:prstGeom prst="rect">
            <a:avLst/>
          </a:prstGeom>
          <a:noFill/>
          <a:ln/>
        </p:spPr>
        <p:txBody>
          <a:bodyPr wrap="square" lIns="0" tIns="0" rIns="0" bIns="0" rtlCol="0" anchor="t"/>
          <a:lstStyle/>
          <a:p>
            <a:pPr algn="ctr" indent="0" marL="0">
              <a:lnSpc>
                <a:spcPct val="110000"/>
              </a:lnSpc>
              <a:buNone/>
            </a:pPr>
            <a:r>
              <a:rPr lang="en-US" sz="1150" dirty="0">
                <a:solidFill>
                  <a:srgbClr val="333333"/>
                </a:solidFill>
                <a:latin typeface="Calibri" pitchFamily="34" charset="0"/>
                <a:ea typeface="Calibri" pitchFamily="34" charset="-122"/>
                <a:cs typeface="Calibri" pitchFamily="34" charset="-120"/>
              </a:rPr>
              <a:t>Only Intune-managed, policy-compliant devices are permitted to write to the CRM.</a:t>
            </a:r>
            <a:endParaRPr lang="en-US" sz="1150" dirty="0"/>
          </a:p>
        </p:txBody>
      </p:sp>
      <p:sp>
        <p:nvSpPr>
          <p:cNvPr id="10" name="Shape 6"/>
          <p:cNvSpPr/>
          <p:nvPr/>
        </p:nvSpPr>
        <p:spPr>
          <a:xfrm>
            <a:off x="4343400" y="1371600"/>
            <a:ext cx="3520440" cy="2743200"/>
          </a:xfrm>
          <a:prstGeom prst="roundRect">
            <a:avLst>
              <a:gd name="adj" fmla="val 2667"/>
            </a:avLst>
          </a:prstGeom>
          <a:solidFill>
            <a:srgbClr val="F4F6FB"/>
          </a:solidFill>
          <a:ln w="9525">
            <a:solidFill>
              <a:srgbClr val="DCE3F0"/>
            </a:solidFill>
            <a:prstDash val="solid"/>
          </a:ln>
          <a:effectLst>
            <a:outerShdw sx="100000" sy="100000" kx="0" ky="0" algn="bl" rotWithShape="0" blurRad="76200" dist="25400" dir="5400000">
              <a:srgbClr val="1E2761">
                <a:alpha val="12000"/>
              </a:srgbClr>
            </a:outerShdw>
          </a:effectLst>
        </p:spPr>
      </p:sp>
      <p:sp>
        <p:nvSpPr>
          <p:cNvPr id="11" name="Shape 7"/>
          <p:cNvSpPr/>
          <p:nvPr/>
        </p:nvSpPr>
        <p:spPr>
          <a:xfrm>
            <a:off x="5806440" y="1668780"/>
            <a:ext cx="594360" cy="594360"/>
          </a:xfrm>
          <a:prstGeom prst="ellipse">
            <a:avLst/>
          </a:prstGeom>
          <a:solidFill>
            <a:srgbClr val="1E2761"/>
          </a:solidFill>
          <a:ln/>
        </p:spPr>
      </p:sp>
      <p:pic>
        <p:nvPicPr>
          <p:cNvPr id="12" name="Image 2" descr="/home/claude/icons/FaUser.png">    </p:cNvPr>
          <p:cNvPicPr>
            <a:picLocks noChangeAspect="1"/>
          </p:cNvPicPr>
          <p:nvPr/>
        </p:nvPicPr>
        <p:blipFill>
          <a:blip r:embed="rId3"/>
          <a:stretch>
            <a:fillRect/>
          </a:stretch>
        </p:blipFill>
        <p:spPr>
          <a:xfrm>
            <a:off x="5949086" y="1811426"/>
            <a:ext cx="309067" cy="309067"/>
          </a:xfrm>
          <a:prstGeom prst="rect">
            <a:avLst/>
          </a:prstGeom>
        </p:spPr>
      </p:pic>
      <p:sp>
        <p:nvSpPr>
          <p:cNvPr id="13" name="Text 8"/>
          <p:cNvSpPr/>
          <p:nvPr/>
        </p:nvSpPr>
        <p:spPr>
          <a:xfrm>
            <a:off x="4572000" y="2514600"/>
            <a:ext cx="3063240" cy="457200"/>
          </a:xfrm>
          <a:prstGeom prst="rect">
            <a:avLst/>
          </a:prstGeom>
          <a:noFill/>
          <a:ln/>
        </p:spPr>
        <p:txBody>
          <a:bodyPr wrap="square" lIns="0" tIns="0" rIns="0" bIns="0" rtlCol="0" anchor="ctr"/>
          <a:lstStyle/>
          <a:p>
            <a:pPr algn="ctr" indent="0" marL="0">
              <a:buNone/>
            </a:pPr>
            <a:r>
              <a:rPr lang="en-US" sz="1400" b="1" dirty="0">
                <a:solidFill>
                  <a:srgbClr val="1E2761"/>
                </a:solidFill>
                <a:latin typeface="Cambria" pitchFamily="34" charset="0"/>
                <a:ea typeface="Cambria" pitchFamily="34" charset="-122"/>
                <a:cs typeface="Cambria" pitchFamily="34" charset="-120"/>
              </a:rPr>
              <a:t>Verified identity</a:t>
            </a:r>
            <a:endParaRPr lang="en-US" sz="1400" dirty="0"/>
          </a:p>
        </p:txBody>
      </p:sp>
      <p:sp>
        <p:nvSpPr>
          <p:cNvPr id="14" name="Text 9"/>
          <p:cNvSpPr/>
          <p:nvPr/>
        </p:nvSpPr>
        <p:spPr>
          <a:xfrm>
            <a:off x="4617720" y="3017520"/>
            <a:ext cx="2971800" cy="960120"/>
          </a:xfrm>
          <a:prstGeom prst="rect">
            <a:avLst/>
          </a:prstGeom>
          <a:noFill/>
          <a:ln/>
        </p:spPr>
        <p:txBody>
          <a:bodyPr wrap="square" lIns="0" tIns="0" rIns="0" bIns="0" rtlCol="0" anchor="t"/>
          <a:lstStyle/>
          <a:p>
            <a:pPr algn="ctr" indent="0" marL="0">
              <a:lnSpc>
                <a:spcPct val="110000"/>
              </a:lnSpc>
              <a:buNone/>
            </a:pPr>
            <a:r>
              <a:rPr lang="en-US" sz="1150" dirty="0">
                <a:solidFill>
                  <a:srgbClr val="333333"/>
                </a:solidFill>
                <a:latin typeface="Calibri" pitchFamily="34" charset="0"/>
                <a:ea typeface="Calibri" pitchFamily="34" charset="-122"/>
                <a:cs typeface="Calibri" pitchFamily="34" charset="-120"/>
              </a:rPr>
              <a:t>Azure AD authentication with multi-factor authentication on every sync attempt.</a:t>
            </a:r>
            <a:endParaRPr lang="en-US" sz="1150" dirty="0"/>
          </a:p>
        </p:txBody>
      </p:sp>
      <p:sp>
        <p:nvSpPr>
          <p:cNvPr id="15" name="Shape 10"/>
          <p:cNvSpPr/>
          <p:nvPr/>
        </p:nvSpPr>
        <p:spPr>
          <a:xfrm>
            <a:off x="8138160" y="1371600"/>
            <a:ext cx="3520440" cy="2743200"/>
          </a:xfrm>
          <a:prstGeom prst="roundRect">
            <a:avLst>
              <a:gd name="adj" fmla="val 2667"/>
            </a:avLst>
          </a:prstGeom>
          <a:solidFill>
            <a:srgbClr val="F4F6FB"/>
          </a:solidFill>
          <a:ln w="9525">
            <a:solidFill>
              <a:srgbClr val="DCE3F0"/>
            </a:solidFill>
            <a:prstDash val="solid"/>
          </a:ln>
          <a:effectLst>
            <a:outerShdw sx="100000" sy="100000" kx="0" ky="0" algn="bl" rotWithShape="0" blurRad="76200" dist="25400" dir="5400000">
              <a:srgbClr val="1E2761">
                <a:alpha val="12000"/>
              </a:srgbClr>
            </a:outerShdw>
          </a:effectLst>
        </p:spPr>
      </p:sp>
      <p:sp>
        <p:nvSpPr>
          <p:cNvPr id="16" name="Shape 11"/>
          <p:cNvSpPr/>
          <p:nvPr/>
        </p:nvSpPr>
        <p:spPr>
          <a:xfrm>
            <a:off x="9601200" y="1668780"/>
            <a:ext cx="594360" cy="594360"/>
          </a:xfrm>
          <a:prstGeom prst="ellipse">
            <a:avLst/>
          </a:prstGeom>
          <a:solidFill>
            <a:srgbClr val="1E2761"/>
          </a:solidFill>
          <a:ln/>
        </p:spPr>
      </p:sp>
      <p:pic>
        <p:nvPicPr>
          <p:cNvPr id="17" name="Image 3" descr="/home/claude/icons/FaLocationDot.png">    </p:cNvPr>
          <p:cNvPicPr>
            <a:picLocks noChangeAspect="1"/>
          </p:cNvPicPr>
          <p:nvPr/>
        </p:nvPicPr>
        <p:blipFill>
          <a:blip r:embed="rId4"/>
          <a:stretch>
            <a:fillRect/>
          </a:stretch>
        </p:blipFill>
        <p:spPr>
          <a:xfrm>
            <a:off x="9743846" y="1811426"/>
            <a:ext cx="309067" cy="309067"/>
          </a:xfrm>
          <a:prstGeom prst="rect">
            <a:avLst/>
          </a:prstGeom>
        </p:spPr>
      </p:pic>
      <p:sp>
        <p:nvSpPr>
          <p:cNvPr id="18" name="Text 12"/>
          <p:cNvSpPr/>
          <p:nvPr/>
        </p:nvSpPr>
        <p:spPr>
          <a:xfrm>
            <a:off x="8366760" y="2514600"/>
            <a:ext cx="3063240" cy="457200"/>
          </a:xfrm>
          <a:prstGeom prst="rect">
            <a:avLst/>
          </a:prstGeom>
          <a:noFill/>
          <a:ln/>
        </p:spPr>
        <p:txBody>
          <a:bodyPr wrap="square" lIns="0" tIns="0" rIns="0" bIns="0" rtlCol="0" anchor="ctr"/>
          <a:lstStyle/>
          <a:p>
            <a:pPr algn="ctr" indent="0" marL="0">
              <a:buNone/>
            </a:pPr>
            <a:r>
              <a:rPr lang="en-US" sz="1400" b="1" dirty="0">
                <a:solidFill>
                  <a:srgbClr val="1E2761"/>
                </a:solidFill>
                <a:latin typeface="Cambria" pitchFamily="34" charset="0"/>
                <a:ea typeface="Cambria" pitchFamily="34" charset="-122"/>
                <a:cs typeface="Cambria" pitchFamily="34" charset="-120"/>
              </a:rPr>
              <a:t>Trusted network context</a:t>
            </a:r>
            <a:endParaRPr lang="en-US" sz="1400" dirty="0"/>
          </a:p>
        </p:txBody>
      </p:sp>
      <p:sp>
        <p:nvSpPr>
          <p:cNvPr id="19" name="Text 13"/>
          <p:cNvSpPr/>
          <p:nvPr/>
        </p:nvSpPr>
        <p:spPr>
          <a:xfrm>
            <a:off x="8412480" y="3017520"/>
            <a:ext cx="2971800" cy="960120"/>
          </a:xfrm>
          <a:prstGeom prst="rect">
            <a:avLst/>
          </a:prstGeom>
          <a:noFill/>
          <a:ln/>
        </p:spPr>
        <p:txBody>
          <a:bodyPr wrap="square" lIns="0" tIns="0" rIns="0" bIns="0" rtlCol="0" anchor="t"/>
          <a:lstStyle/>
          <a:p>
            <a:pPr algn="ctr" indent="0" marL="0">
              <a:lnSpc>
                <a:spcPct val="110000"/>
              </a:lnSpc>
              <a:buNone/>
            </a:pPr>
            <a:r>
              <a:rPr lang="en-US" sz="1150" dirty="0">
                <a:solidFill>
                  <a:srgbClr val="333333"/>
                </a:solidFill>
                <a:latin typeface="Calibri" pitchFamily="34" charset="0"/>
                <a:ea typeface="Calibri" pitchFamily="34" charset="-122"/>
                <a:cs typeface="Calibri" pitchFamily="34" charset="-120"/>
              </a:rPr>
              <a:t>Corporate network or a recognized VPN egress point required for the write itself.</a:t>
            </a:r>
            <a:endParaRPr lang="en-US" sz="1150" dirty="0"/>
          </a:p>
        </p:txBody>
      </p:sp>
      <p:sp>
        <p:nvSpPr>
          <p:cNvPr id="20" name="Text 14"/>
          <p:cNvSpPr/>
          <p:nvPr/>
        </p:nvSpPr>
        <p:spPr>
          <a:xfrm>
            <a:off x="548640" y="4343400"/>
            <a:ext cx="11064240" cy="502920"/>
          </a:xfrm>
          <a:prstGeom prst="rect">
            <a:avLst/>
          </a:prstGeom>
          <a:noFill/>
          <a:ln/>
        </p:spPr>
        <p:txBody>
          <a:bodyPr wrap="square" lIns="0" tIns="0" rIns="0" bIns="0" rtlCol="0" anchor="ctr"/>
          <a:lstStyle/>
          <a:p>
            <a:pPr indent="0" marL="0">
              <a:buNone/>
            </a:pPr>
            <a:r>
              <a:rPr lang="en-US" sz="1300" i="1" dirty="0">
                <a:solidFill>
                  <a:srgbClr val="1E2761"/>
                </a:solidFill>
                <a:latin typeface="Calibri" pitchFamily="34" charset="0"/>
                <a:ea typeface="Calibri" pitchFamily="34" charset="-122"/>
                <a:cs typeface="Calibri" pitchFamily="34" charset="-120"/>
              </a:rPr>
              <a:t>All three conditions must pass before a governed write proceeds. Capture and transcription are not subject to this gate, since that data never touches the CRM directly.</a:t>
            </a:r>
            <a:endParaRPr lang="en-US" sz="1300" dirty="0"/>
          </a:p>
        </p:txBody>
      </p:sp>
      <p:sp>
        <p:nvSpPr>
          <p:cNvPr id="21" name="Shape 15"/>
          <p:cNvSpPr/>
          <p:nvPr/>
        </p:nvSpPr>
        <p:spPr>
          <a:xfrm>
            <a:off x="548640" y="4937760"/>
            <a:ext cx="11064240" cy="1051560"/>
          </a:xfrm>
          <a:prstGeom prst="roundRect">
            <a:avLst>
              <a:gd name="adj" fmla="val 6957"/>
            </a:avLst>
          </a:prstGeom>
          <a:solidFill>
            <a:srgbClr val="F4F6FB"/>
          </a:solidFill>
          <a:ln w="9525">
            <a:solidFill>
              <a:srgbClr val="DCE3F0"/>
            </a:solidFill>
            <a:prstDash val="solid"/>
          </a:ln>
        </p:spPr>
      </p:sp>
      <p:sp>
        <p:nvSpPr>
          <p:cNvPr id="22" name="Text 16"/>
          <p:cNvSpPr/>
          <p:nvPr/>
        </p:nvSpPr>
        <p:spPr>
          <a:xfrm>
            <a:off x="822960" y="4937760"/>
            <a:ext cx="10515600" cy="1051560"/>
          </a:xfrm>
          <a:prstGeom prst="rect">
            <a:avLst/>
          </a:prstGeom>
          <a:noFill/>
          <a:ln/>
        </p:spPr>
        <p:txBody>
          <a:bodyPr wrap="square" lIns="0" tIns="0" rIns="0" bIns="0" rtlCol="0" anchor="ctr"/>
          <a:lstStyle/>
          <a:p>
            <a:pPr indent="0" marL="0">
              <a:lnSpc>
                <a:spcPct val="110000"/>
              </a:lnSpc>
              <a:buNone/>
            </a:pPr>
            <a:r>
              <a:rPr lang="en-US" sz="1200" b="1" dirty="0">
                <a:solidFill>
                  <a:srgbClr val="1E2761"/>
                </a:solidFill>
                <a:latin typeface="Calibri" pitchFamily="34" charset="0"/>
                <a:ea typeface="Calibri" pitchFamily="34" charset="-122"/>
                <a:cs typeface="Calibri" pitchFamily="34" charset="-120"/>
              </a:rPr>
              <a:t>On the original question, local storage gated to VPN or on-prem sync only, </a:t>
            </a:r>
            <a:pPr indent="0" marL="0">
              <a:lnSpc>
                <a:spcPct val="110000"/>
              </a:lnSpc>
              <a:buNone/>
            </a:pPr>
            <a:r>
              <a:rPr lang="en-US" sz="1200" dirty="0">
                <a:solidFill>
                  <a:srgbClr val="333333"/>
                </a:solidFill>
                <a:latin typeface="Calibri" pitchFamily="34" charset="0"/>
                <a:ea typeface="Calibri" pitchFamily="34" charset="-122"/>
                <a:cs typeface="Calibri" pitchFamily="34" charset="-120"/>
              </a:rPr>
              <a:t>the instinct is correct and the recommended implementation is its modern equivalent: Zero Trust Conditional Access. This achieves the same governance intent, writes only happen from a trusted context, without confining reps to the office to use the app.</a:t>
            </a:r>
            <a:endParaRPr lang="en-US" sz="1200" dirty="0"/>
          </a:p>
        </p:txBody>
      </p:sp>
      <p:sp>
        <p:nvSpPr>
          <p:cNvPr id="23" name="Text 17"/>
          <p:cNvSpPr/>
          <p:nvPr/>
        </p:nvSpPr>
        <p:spPr>
          <a:xfrm>
            <a:off x="11521440" y="6446520"/>
            <a:ext cx="36576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1E2761"/>
          </a:solidFill>
          <a:ln/>
        </p:spPr>
      </p:sp>
      <p:pic>
        <p:nvPicPr>
          <p:cNvPr id="3" name="Image 0" descr="/home/claude/icons/FaClockRotateLeft.png">    </p:cNvPr>
          <p:cNvPicPr>
            <a:picLocks noChangeAspect="1"/>
          </p:cNvPicPr>
          <p:nvPr/>
        </p:nvPicPr>
        <p:blipFill>
          <a:blip r:embed="rId1"/>
          <a:stretch>
            <a:fillRect/>
          </a:stretch>
        </p:blipFill>
        <p:spPr>
          <a:xfrm>
            <a:off x="576072" y="502920"/>
            <a:ext cx="237744" cy="237744"/>
          </a:xfrm>
          <a:prstGeom prst="rect">
            <a:avLst/>
          </a:prstGeom>
        </p:spPr>
      </p:pic>
      <p:sp>
        <p:nvSpPr>
          <p:cNvPr id="4" name="Text 1"/>
          <p:cNvSpPr/>
          <p:nvPr/>
        </p:nvSpPr>
        <p:spPr>
          <a:xfrm>
            <a:off x="1051560" y="320040"/>
            <a:ext cx="10652760" cy="594360"/>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Data Lifecycle: What Is Kept, Where, and For How Long</a:t>
            </a:r>
            <a:endParaRPr lang="en-US" sz="2800" dirty="0"/>
          </a:p>
        </p:txBody>
      </p:sp>
      <p:sp>
        <p:nvSpPr>
          <p:cNvPr id="5" name="Shape 2"/>
          <p:cNvSpPr/>
          <p:nvPr/>
        </p:nvSpPr>
        <p:spPr>
          <a:xfrm>
            <a:off x="548640" y="1234440"/>
            <a:ext cx="2606040" cy="457200"/>
          </a:xfrm>
          <a:prstGeom prst="rect">
            <a:avLst/>
          </a:prstGeom>
          <a:solidFill>
            <a:srgbClr val="1E2761"/>
          </a:solidFill>
          <a:ln w="12700">
            <a:solidFill>
              <a:srgbClr val="FFFFFF"/>
            </a:solidFill>
            <a:prstDash val="solid"/>
          </a:ln>
        </p:spPr>
      </p:sp>
      <p:sp>
        <p:nvSpPr>
          <p:cNvPr id="6" name="Text 3"/>
          <p:cNvSpPr/>
          <p:nvPr/>
        </p:nvSpPr>
        <p:spPr>
          <a:xfrm>
            <a:off x="640080" y="1234440"/>
            <a:ext cx="2423160" cy="457200"/>
          </a:xfrm>
          <a:prstGeom prst="rect">
            <a:avLst/>
          </a:prstGeom>
          <a:noFill/>
          <a:ln/>
        </p:spPr>
        <p:txBody>
          <a:bodyPr wrap="square" lIns="0" tIns="0" rIns="0" bIns="0" rtlCol="0" anchor="ctr"/>
          <a:lstStyle/>
          <a:p>
            <a:pPr indent="0" marL="0">
              <a:lnSpc>
                <a:spcPct val="100000"/>
              </a:lnSpc>
              <a:buNone/>
            </a:pPr>
            <a:r>
              <a:rPr lang="en-US" sz="1200" b="1" dirty="0">
                <a:solidFill>
                  <a:srgbClr val="FFFFFF"/>
                </a:solidFill>
                <a:latin typeface="Cambria" pitchFamily="34" charset="0"/>
                <a:ea typeface="Cambria" pitchFamily="34" charset="-122"/>
                <a:cs typeface="Cambria" pitchFamily="34" charset="-120"/>
              </a:rPr>
              <a:t>Data Type</a:t>
            </a:r>
            <a:endParaRPr lang="en-US" sz="1200" dirty="0"/>
          </a:p>
        </p:txBody>
      </p:sp>
      <p:sp>
        <p:nvSpPr>
          <p:cNvPr id="7" name="Shape 4"/>
          <p:cNvSpPr/>
          <p:nvPr/>
        </p:nvSpPr>
        <p:spPr>
          <a:xfrm>
            <a:off x="3246120" y="1234440"/>
            <a:ext cx="3200400" cy="457200"/>
          </a:xfrm>
          <a:prstGeom prst="rect">
            <a:avLst/>
          </a:prstGeom>
          <a:solidFill>
            <a:srgbClr val="1E2761"/>
          </a:solidFill>
          <a:ln w="12700">
            <a:solidFill>
              <a:srgbClr val="FFFFFF"/>
            </a:solidFill>
            <a:prstDash val="solid"/>
          </a:ln>
        </p:spPr>
      </p:sp>
      <p:sp>
        <p:nvSpPr>
          <p:cNvPr id="8" name="Text 5"/>
          <p:cNvSpPr/>
          <p:nvPr/>
        </p:nvSpPr>
        <p:spPr>
          <a:xfrm>
            <a:off x="3337560" y="1234440"/>
            <a:ext cx="3017520" cy="457200"/>
          </a:xfrm>
          <a:prstGeom prst="rect">
            <a:avLst/>
          </a:prstGeom>
          <a:noFill/>
          <a:ln/>
        </p:spPr>
        <p:txBody>
          <a:bodyPr wrap="square" lIns="0" tIns="0" rIns="0" bIns="0" rtlCol="0" anchor="ctr"/>
          <a:lstStyle/>
          <a:p>
            <a:pPr indent="0" marL="0">
              <a:lnSpc>
                <a:spcPct val="100000"/>
              </a:lnSpc>
              <a:buNone/>
            </a:pPr>
            <a:r>
              <a:rPr lang="en-US" sz="1200" b="1" dirty="0">
                <a:solidFill>
                  <a:srgbClr val="FFFFFF"/>
                </a:solidFill>
                <a:latin typeface="Cambria" pitchFamily="34" charset="0"/>
                <a:ea typeface="Cambria" pitchFamily="34" charset="-122"/>
                <a:cs typeface="Cambria" pitchFamily="34" charset="-120"/>
              </a:rPr>
              <a:t>Storage Location</a:t>
            </a:r>
            <a:endParaRPr lang="en-US" sz="1200" dirty="0"/>
          </a:p>
        </p:txBody>
      </p:sp>
      <p:sp>
        <p:nvSpPr>
          <p:cNvPr id="9" name="Shape 6"/>
          <p:cNvSpPr/>
          <p:nvPr/>
        </p:nvSpPr>
        <p:spPr>
          <a:xfrm>
            <a:off x="6537960" y="1234440"/>
            <a:ext cx="2834640" cy="457200"/>
          </a:xfrm>
          <a:prstGeom prst="rect">
            <a:avLst/>
          </a:prstGeom>
          <a:solidFill>
            <a:srgbClr val="1E2761"/>
          </a:solidFill>
          <a:ln w="12700">
            <a:solidFill>
              <a:srgbClr val="FFFFFF"/>
            </a:solidFill>
            <a:prstDash val="solid"/>
          </a:ln>
        </p:spPr>
      </p:sp>
      <p:sp>
        <p:nvSpPr>
          <p:cNvPr id="10" name="Text 7"/>
          <p:cNvSpPr/>
          <p:nvPr/>
        </p:nvSpPr>
        <p:spPr>
          <a:xfrm>
            <a:off x="6629400" y="1234440"/>
            <a:ext cx="2651760" cy="457200"/>
          </a:xfrm>
          <a:prstGeom prst="rect">
            <a:avLst/>
          </a:prstGeom>
          <a:noFill/>
          <a:ln/>
        </p:spPr>
        <p:txBody>
          <a:bodyPr wrap="square" lIns="0" tIns="0" rIns="0" bIns="0" rtlCol="0" anchor="ctr"/>
          <a:lstStyle/>
          <a:p>
            <a:pPr indent="0" marL="0">
              <a:lnSpc>
                <a:spcPct val="100000"/>
              </a:lnSpc>
              <a:buNone/>
            </a:pPr>
            <a:r>
              <a:rPr lang="en-US" sz="1200" b="1" dirty="0">
                <a:solidFill>
                  <a:srgbClr val="FFFFFF"/>
                </a:solidFill>
                <a:latin typeface="Cambria" pitchFamily="34" charset="0"/>
                <a:ea typeface="Cambria" pitchFamily="34" charset="-122"/>
                <a:cs typeface="Cambria" pitchFamily="34" charset="-120"/>
              </a:rPr>
              <a:t>Retention</a:t>
            </a:r>
            <a:endParaRPr lang="en-US" sz="1200" dirty="0"/>
          </a:p>
        </p:txBody>
      </p:sp>
      <p:sp>
        <p:nvSpPr>
          <p:cNvPr id="11" name="Shape 8"/>
          <p:cNvSpPr/>
          <p:nvPr/>
        </p:nvSpPr>
        <p:spPr>
          <a:xfrm>
            <a:off x="9464040" y="1234440"/>
            <a:ext cx="2148840" cy="457200"/>
          </a:xfrm>
          <a:prstGeom prst="rect">
            <a:avLst/>
          </a:prstGeom>
          <a:solidFill>
            <a:srgbClr val="1E2761"/>
          </a:solidFill>
          <a:ln w="12700">
            <a:solidFill>
              <a:srgbClr val="FFFFFF"/>
            </a:solidFill>
            <a:prstDash val="solid"/>
          </a:ln>
        </p:spPr>
      </p:sp>
      <p:sp>
        <p:nvSpPr>
          <p:cNvPr id="12" name="Text 9"/>
          <p:cNvSpPr/>
          <p:nvPr/>
        </p:nvSpPr>
        <p:spPr>
          <a:xfrm>
            <a:off x="9555480" y="1234440"/>
            <a:ext cx="1965960" cy="457200"/>
          </a:xfrm>
          <a:prstGeom prst="rect">
            <a:avLst/>
          </a:prstGeom>
          <a:noFill/>
          <a:ln/>
        </p:spPr>
        <p:txBody>
          <a:bodyPr wrap="square" lIns="0" tIns="0" rIns="0" bIns="0" rtlCol="0" anchor="ctr"/>
          <a:lstStyle/>
          <a:p>
            <a:pPr indent="0" marL="0">
              <a:lnSpc>
                <a:spcPct val="100000"/>
              </a:lnSpc>
              <a:buNone/>
            </a:pPr>
            <a:r>
              <a:rPr lang="en-US" sz="1200" b="1" dirty="0">
                <a:solidFill>
                  <a:srgbClr val="FFFFFF"/>
                </a:solidFill>
                <a:latin typeface="Cambria" pitchFamily="34" charset="0"/>
                <a:ea typeface="Cambria" pitchFamily="34" charset="-122"/>
                <a:cs typeface="Cambria" pitchFamily="34" charset="-120"/>
              </a:rPr>
              <a:t>Access</a:t>
            </a:r>
            <a:endParaRPr lang="en-US" sz="1200" dirty="0"/>
          </a:p>
        </p:txBody>
      </p:sp>
      <p:sp>
        <p:nvSpPr>
          <p:cNvPr id="13" name="Shape 10"/>
          <p:cNvSpPr/>
          <p:nvPr/>
        </p:nvSpPr>
        <p:spPr>
          <a:xfrm>
            <a:off x="548640" y="1691640"/>
            <a:ext cx="2606040" cy="566928"/>
          </a:xfrm>
          <a:prstGeom prst="rect">
            <a:avLst/>
          </a:prstGeom>
          <a:solidFill>
            <a:srgbClr val="F4F6FB"/>
          </a:solidFill>
          <a:ln w="12700">
            <a:solidFill>
              <a:srgbClr val="FFFFFF"/>
            </a:solidFill>
            <a:prstDash val="solid"/>
          </a:ln>
        </p:spPr>
      </p:sp>
      <p:sp>
        <p:nvSpPr>
          <p:cNvPr id="14" name="Text 11"/>
          <p:cNvSpPr/>
          <p:nvPr/>
        </p:nvSpPr>
        <p:spPr>
          <a:xfrm>
            <a:off x="640080" y="1691640"/>
            <a:ext cx="2423160" cy="566928"/>
          </a:xfrm>
          <a:prstGeom prst="rect">
            <a:avLst/>
          </a:prstGeom>
          <a:noFill/>
          <a:ln/>
        </p:spPr>
        <p:txBody>
          <a:bodyPr wrap="square" lIns="0" tIns="0" rIns="0" bIns="0" rtlCol="0" anchor="ctr"/>
          <a:lstStyle/>
          <a:p>
            <a:pPr indent="0" marL="0">
              <a:lnSpc>
                <a:spcPct val="100000"/>
              </a:lnSpc>
              <a:buNone/>
            </a:pPr>
            <a:r>
              <a:rPr lang="en-US" sz="1000" dirty="0">
                <a:solidFill>
                  <a:srgbClr val="333333"/>
                </a:solidFill>
                <a:latin typeface="Calibri" pitchFamily="34" charset="0"/>
                <a:ea typeface="Calibri" pitchFamily="34" charset="-122"/>
                <a:cs typeface="Calibri" pitchFamily="34" charset="-120"/>
              </a:rPr>
              <a:t>Raw audio</a:t>
            </a:r>
            <a:endParaRPr lang="en-US" sz="1000" dirty="0"/>
          </a:p>
        </p:txBody>
      </p:sp>
      <p:sp>
        <p:nvSpPr>
          <p:cNvPr id="15" name="Shape 12"/>
          <p:cNvSpPr/>
          <p:nvPr/>
        </p:nvSpPr>
        <p:spPr>
          <a:xfrm>
            <a:off x="3246120" y="1691640"/>
            <a:ext cx="3200400" cy="566928"/>
          </a:xfrm>
          <a:prstGeom prst="rect">
            <a:avLst/>
          </a:prstGeom>
          <a:solidFill>
            <a:srgbClr val="F4F6FB"/>
          </a:solidFill>
          <a:ln w="12700">
            <a:solidFill>
              <a:srgbClr val="FFFFFF"/>
            </a:solidFill>
            <a:prstDash val="solid"/>
          </a:ln>
        </p:spPr>
      </p:sp>
      <p:sp>
        <p:nvSpPr>
          <p:cNvPr id="16" name="Text 13"/>
          <p:cNvSpPr/>
          <p:nvPr/>
        </p:nvSpPr>
        <p:spPr>
          <a:xfrm>
            <a:off x="3337560" y="1691640"/>
            <a:ext cx="3017520" cy="566928"/>
          </a:xfrm>
          <a:prstGeom prst="rect">
            <a:avLst/>
          </a:prstGeom>
          <a:noFill/>
          <a:ln/>
        </p:spPr>
        <p:txBody>
          <a:bodyPr wrap="square" lIns="0" tIns="0" rIns="0" bIns="0" rtlCol="0" anchor="ctr"/>
          <a:lstStyle/>
          <a:p>
            <a:pPr indent="0" marL="0">
              <a:lnSpc>
                <a:spcPct val="100000"/>
              </a:lnSpc>
              <a:buNone/>
            </a:pPr>
            <a:r>
              <a:rPr lang="en-US" sz="1000" dirty="0">
                <a:solidFill>
                  <a:srgbClr val="333333"/>
                </a:solidFill>
                <a:latin typeface="Calibri" pitchFamily="34" charset="0"/>
                <a:ea typeface="Calibri" pitchFamily="34" charset="-122"/>
                <a:cs typeface="Calibri" pitchFamily="34" charset="-120"/>
              </a:rPr>
              <a:t>Encrypted local buffer, then transient in Azure EU</a:t>
            </a:r>
            <a:endParaRPr lang="en-US" sz="1000" dirty="0"/>
          </a:p>
        </p:txBody>
      </p:sp>
      <p:sp>
        <p:nvSpPr>
          <p:cNvPr id="17" name="Shape 14"/>
          <p:cNvSpPr/>
          <p:nvPr/>
        </p:nvSpPr>
        <p:spPr>
          <a:xfrm>
            <a:off x="6537960" y="1691640"/>
            <a:ext cx="2834640" cy="566928"/>
          </a:xfrm>
          <a:prstGeom prst="rect">
            <a:avLst/>
          </a:prstGeom>
          <a:solidFill>
            <a:srgbClr val="F4F6FB"/>
          </a:solidFill>
          <a:ln w="12700">
            <a:solidFill>
              <a:srgbClr val="FFFFFF"/>
            </a:solidFill>
            <a:prstDash val="solid"/>
          </a:ln>
        </p:spPr>
      </p:sp>
      <p:sp>
        <p:nvSpPr>
          <p:cNvPr id="18" name="Text 15"/>
          <p:cNvSpPr/>
          <p:nvPr/>
        </p:nvSpPr>
        <p:spPr>
          <a:xfrm>
            <a:off x="6629400" y="1691640"/>
            <a:ext cx="2651760" cy="566928"/>
          </a:xfrm>
          <a:prstGeom prst="rect">
            <a:avLst/>
          </a:prstGeom>
          <a:noFill/>
          <a:ln/>
        </p:spPr>
        <p:txBody>
          <a:bodyPr wrap="square" lIns="0" tIns="0" rIns="0" bIns="0" rtlCol="0" anchor="ctr"/>
          <a:lstStyle/>
          <a:p>
            <a:pPr indent="0" marL="0">
              <a:lnSpc>
                <a:spcPct val="100000"/>
              </a:lnSpc>
              <a:buNone/>
            </a:pPr>
            <a:r>
              <a:rPr lang="en-US" sz="1000" dirty="0">
                <a:solidFill>
                  <a:srgbClr val="333333"/>
                </a:solidFill>
                <a:latin typeface="Calibri" pitchFamily="34" charset="0"/>
                <a:ea typeface="Calibri" pitchFamily="34" charset="-122"/>
                <a:cs typeface="Calibri" pitchFamily="34" charset="-120"/>
              </a:rPr>
              <a:t>Deleted immediately after confirmed transcription</a:t>
            </a:r>
            <a:endParaRPr lang="en-US" sz="1000" dirty="0"/>
          </a:p>
        </p:txBody>
      </p:sp>
      <p:sp>
        <p:nvSpPr>
          <p:cNvPr id="19" name="Shape 16"/>
          <p:cNvSpPr/>
          <p:nvPr/>
        </p:nvSpPr>
        <p:spPr>
          <a:xfrm>
            <a:off x="9464040" y="1691640"/>
            <a:ext cx="2148840" cy="566928"/>
          </a:xfrm>
          <a:prstGeom prst="rect">
            <a:avLst/>
          </a:prstGeom>
          <a:solidFill>
            <a:srgbClr val="F4F6FB"/>
          </a:solidFill>
          <a:ln w="12700">
            <a:solidFill>
              <a:srgbClr val="FFFFFF"/>
            </a:solidFill>
            <a:prstDash val="solid"/>
          </a:ln>
        </p:spPr>
      </p:sp>
      <p:sp>
        <p:nvSpPr>
          <p:cNvPr id="20" name="Text 17"/>
          <p:cNvSpPr/>
          <p:nvPr/>
        </p:nvSpPr>
        <p:spPr>
          <a:xfrm>
            <a:off x="9555480" y="1691640"/>
            <a:ext cx="1965960" cy="566928"/>
          </a:xfrm>
          <a:prstGeom prst="rect">
            <a:avLst/>
          </a:prstGeom>
          <a:noFill/>
          <a:ln/>
        </p:spPr>
        <p:txBody>
          <a:bodyPr wrap="square" lIns="0" tIns="0" rIns="0" bIns="0" rtlCol="0" anchor="ctr"/>
          <a:lstStyle/>
          <a:p>
            <a:pPr indent="0" marL="0">
              <a:lnSpc>
                <a:spcPct val="100000"/>
              </a:lnSpc>
              <a:buNone/>
            </a:pPr>
            <a:r>
              <a:rPr lang="en-US" sz="1000" dirty="0">
                <a:solidFill>
                  <a:srgbClr val="333333"/>
                </a:solidFill>
                <a:latin typeface="Calibri" pitchFamily="34" charset="0"/>
                <a:ea typeface="Calibri" pitchFamily="34" charset="-122"/>
                <a:cs typeface="Calibri" pitchFamily="34" charset="-120"/>
              </a:rPr>
              <a:t>System process only</a:t>
            </a:r>
            <a:endParaRPr lang="en-US" sz="1000" dirty="0"/>
          </a:p>
        </p:txBody>
      </p:sp>
      <p:sp>
        <p:nvSpPr>
          <p:cNvPr id="21" name="Shape 18"/>
          <p:cNvSpPr/>
          <p:nvPr/>
        </p:nvSpPr>
        <p:spPr>
          <a:xfrm>
            <a:off x="548640" y="2258568"/>
            <a:ext cx="2606040" cy="566928"/>
          </a:xfrm>
          <a:prstGeom prst="rect">
            <a:avLst/>
          </a:prstGeom>
          <a:solidFill>
            <a:srgbClr val="F4F6FB"/>
          </a:solidFill>
          <a:ln w="12700">
            <a:solidFill>
              <a:srgbClr val="FFFFFF"/>
            </a:solidFill>
            <a:prstDash val="solid"/>
          </a:ln>
        </p:spPr>
      </p:sp>
      <p:sp>
        <p:nvSpPr>
          <p:cNvPr id="22" name="Text 19"/>
          <p:cNvSpPr/>
          <p:nvPr/>
        </p:nvSpPr>
        <p:spPr>
          <a:xfrm>
            <a:off x="640080" y="2258568"/>
            <a:ext cx="2423160" cy="566928"/>
          </a:xfrm>
          <a:prstGeom prst="rect">
            <a:avLst/>
          </a:prstGeom>
          <a:noFill/>
          <a:ln/>
        </p:spPr>
        <p:txBody>
          <a:bodyPr wrap="square" lIns="0" tIns="0" rIns="0" bIns="0" rtlCol="0" anchor="ctr"/>
          <a:lstStyle/>
          <a:p>
            <a:pPr indent="0" marL="0">
              <a:lnSpc>
                <a:spcPct val="100000"/>
              </a:lnSpc>
              <a:buNone/>
            </a:pPr>
            <a:r>
              <a:rPr lang="en-US" sz="1000" dirty="0">
                <a:solidFill>
                  <a:srgbClr val="333333"/>
                </a:solidFill>
                <a:latin typeface="Calibri" pitchFamily="34" charset="0"/>
                <a:ea typeface="Calibri" pitchFamily="34" charset="-122"/>
                <a:cs typeface="Calibri" pitchFamily="34" charset="-120"/>
              </a:rPr>
              <a:t>Transcript</a:t>
            </a:r>
            <a:endParaRPr lang="en-US" sz="1000" dirty="0"/>
          </a:p>
        </p:txBody>
      </p:sp>
      <p:sp>
        <p:nvSpPr>
          <p:cNvPr id="23" name="Shape 20"/>
          <p:cNvSpPr/>
          <p:nvPr/>
        </p:nvSpPr>
        <p:spPr>
          <a:xfrm>
            <a:off x="3246120" y="2258568"/>
            <a:ext cx="3200400" cy="566928"/>
          </a:xfrm>
          <a:prstGeom prst="rect">
            <a:avLst/>
          </a:prstGeom>
          <a:solidFill>
            <a:srgbClr val="F4F6FB"/>
          </a:solidFill>
          <a:ln w="12700">
            <a:solidFill>
              <a:srgbClr val="FFFFFF"/>
            </a:solidFill>
            <a:prstDash val="solid"/>
          </a:ln>
        </p:spPr>
      </p:sp>
      <p:sp>
        <p:nvSpPr>
          <p:cNvPr id="24" name="Text 21"/>
          <p:cNvSpPr/>
          <p:nvPr/>
        </p:nvSpPr>
        <p:spPr>
          <a:xfrm>
            <a:off x="3337560" y="2258568"/>
            <a:ext cx="3017520" cy="566928"/>
          </a:xfrm>
          <a:prstGeom prst="rect">
            <a:avLst/>
          </a:prstGeom>
          <a:noFill/>
          <a:ln/>
        </p:spPr>
        <p:txBody>
          <a:bodyPr wrap="square" lIns="0" tIns="0" rIns="0" bIns="0" rtlCol="0" anchor="ctr"/>
          <a:lstStyle/>
          <a:p>
            <a:pPr indent="0" marL="0">
              <a:lnSpc>
                <a:spcPct val="100000"/>
              </a:lnSpc>
              <a:buNone/>
            </a:pPr>
            <a:r>
              <a:rPr lang="en-US" sz="1000" dirty="0">
                <a:solidFill>
                  <a:srgbClr val="333333"/>
                </a:solidFill>
                <a:latin typeface="Calibri" pitchFamily="34" charset="0"/>
                <a:ea typeface="Calibri" pitchFamily="34" charset="-122"/>
                <a:cs typeface="Calibri" pitchFamily="34" charset="-120"/>
              </a:rPr>
              <a:t>Staging layer (Fabric / Dataverse), EU region</a:t>
            </a:r>
            <a:endParaRPr lang="en-US" sz="1000" dirty="0"/>
          </a:p>
        </p:txBody>
      </p:sp>
      <p:sp>
        <p:nvSpPr>
          <p:cNvPr id="25" name="Shape 22"/>
          <p:cNvSpPr/>
          <p:nvPr/>
        </p:nvSpPr>
        <p:spPr>
          <a:xfrm>
            <a:off x="6537960" y="2258568"/>
            <a:ext cx="2834640" cy="566928"/>
          </a:xfrm>
          <a:prstGeom prst="rect">
            <a:avLst/>
          </a:prstGeom>
          <a:solidFill>
            <a:srgbClr val="F4F6FB"/>
          </a:solidFill>
          <a:ln w="12700">
            <a:solidFill>
              <a:srgbClr val="FFFFFF"/>
            </a:solidFill>
            <a:prstDash val="solid"/>
          </a:ln>
        </p:spPr>
      </p:sp>
      <p:sp>
        <p:nvSpPr>
          <p:cNvPr id="26" name="Text 23"/>
          <p:cNvSpPr/>
          <p:nvPr/>
        </p:nvSpPr>
        <p:spPr>
          <a:xfrm>
            <a:off x="6629400" y="2258568"/>
            <a:ext cx="2651760" cy="566928"/>
          </a:xfrm>
          <a:prstGeom prst="rect">
            <a:avLst/>
          </a:prstGeom>
          <a:noFill/>
          <a:ln/>
        </p:spPr>
        <p:txBody>
          <a:bodyPr wrap="square" lIns="0" tIns="0" rIns="0" bIns="0" rtlCol="0" anchor="ctr"/>
          <a:lstStyle/>
          <a:p>
            <a:pPr indent="0" marL="0">
              <a:lnSpc>
                <a:spcPct val="100000"/>
              </a:lnSpc>
              <a:buNone/>
            </a:pPr>
            <a:r>
              <a:rPr lang="en-US" sz="1000" dirty="0">
                <a:solidFill>
                  <a:srgbClr val="333333"/>
                </a:solidFill>
                <a:latin typeface="Calibri" pitchFamily="34" charset="0"/>
                <a:ea typeface="Calibri" pitchFamily="34" charset="-122"/>
                <a:cs typeface="Calibri" pitchFamily="34" charset="-120"/>
              </a:rPr>
              <a:t>Per policy set by sales management and IT</a:t>
            </a:r>
            <a:endParaRPr lang="en-US" sz="1000" dirty="0"/>
          </a:p>
        </p:txBody>
      </p:sp>
      <p:sp>
        <p:nvSpPr>
          <p:cNvPr id="27" name="Shape 24"/>
          <p:cNvSpPr/>
          <p:nvPr/>
        </p:nvSpPr>
        <p:spPr>
          <a:xfrm>
            <a:off x="9464040" y="2258568"/>
            <a:ext cx="2148840" cy="566928"/>
          </a:xfrm>
          <a:prstGeom prst="rect">
            <a:avLst/>
          </a:prstGeom>
          <a:solidFill>
            <a:srgbClr val="F4F6FB"/>
          </a:solidFill>
          <a:ln w="12700">
            <a:solidFill>
              <a:srgbClr val="FFFFFF"/>
            </a:solidFill>
            <a:prstDash val="solid"/>
          </a:ln>
        </p:spPr>
      </p:sp>
      <p:sp>
        <p:nvSpPr>
          <p:cNvPr id="28" name="Text 25"/>
          <p:cNvSpPr/>
          <p:nvPr/>
        </p:nvSpPr>
        <p:spPr>
          <a:xfrm>
            <a:off x="9555480" y="2258568"/>
            <a:ext cx="1965960" cy="566928"/>
          </a:xfrm>
          <a:prstGeom prst="rect">
            <a:avLst/>
          </a:prstGeom>
          <a:noFill/>
          <a:ln/>
        </p:spPr>
        <p:txBody>
          <a:bodyPr wrap="square" lIns="0" tIns="0" rIns="0" bIns="0" rtlCol="0" anchor="ctr"/>
          <a:lstStyle/>
          <a:p>
            <a:pPr indent="0" marL="0">
              <a:lnSpc>
                <a:spcPct val="100000"/>
              </a:lnSpc>
              <a:buNone/>
            </a:pPr>
            <a:r>
              <a:rPr lang="en-US" sz="1000" dirty="0">
                <a:solidFill>
                  <a:srgbClr val="333333"/>
                </a:solidFill>
                <a:latin typeface="Calibri" pitchFamily="34" charset="0"/>
                <a:ea typeface="Calibri" pitchFamily="34" charset="-122"/>
                <a:cs typeface="Calibri" pitchFamily="34" charset="-120"/>
              </a:rPr>
              <a:t>Rep (own), IT owner, sales management</a:t>
            </a:r>
            <a:endParaRPr lang="en-US" sz="1000" dirty="0"/>
          </a:p>
        </p:txBody>
      </p:sp>
      <p:sp>
        <p:nvSpPr>
          <p:cNvPr id="29" name="Shape 26"/>
          <p:cNvSpPr/>
          <p:nvPr/>
        </p:nvSpPr>
        <p:spPr>
          <a:xfrm>
            <a:off x="548640" y="2825496"/>
            <a:ext cx="2606040" cy="566928"/>
          </a:xfrm>
          <a:prstGeom prst="rect">
            <a:avLst/>
          </a:prstGeom>
          <a:solidFill>
            <a:srgbClr val="F4F6FB"/>
          </a:solidFill>
          <a:ln w="12700">
            <a:solidFill>
              <a:srgbClr val="FFFFFF"/>
            </a:solidFill>
            <a:prstDash val="solid"/>
          </a:ln>
        </p:spPr>
      </p:sp>
      <p:sp>
        <p:nvSpPr>
          <p:cNvPr id="30" name="Text 27"/>
          <p:cNvSpPr/>
          <p:nvPr/>
        </p:nvSpPr>
        <p:spPr>
          <a:xfrm>
            <a:off x="640080" y="2825496"/>
            <a:ext cx="2423160" cy="566928"/>
          </a:xfrm>
          <a:prstGeom prst="rect">
            <a:avLst/>
          </a:prstGeom>
          <a:noFill/>
          <a:ln/>
        </p:spPr>
        <p:txBody>
          <a:bodyPr wrap="square" lIns="0" tIns="0" rIns="0" bIns="0" rtlCol="0" anchor="ctr"/>
          <a:lstStyle/>
          <a:p>
            <a:pPr indent="0" marL="0">
              <a:lnSpc>
                <a:spcPct val="100000"/>
              </a:lnSpc>
              <a:buNone/>
            </a:pPr>
            <a:r>
              <a:rPr lang="en-US" sz="1000" dirty="0">
                <a:solidFill>
                  <a:srgbClr val="333333"/>
                </a:solidFill>
                <a:latin typeface="Calibri" pitchFamily="34" charset="0"/>
                <a:ea typeface="Calibri" pitchFamily="34" charset="-122"/>
                <a:cs typeface="Calibri" pitchFamily="34" charset="-120"/>
              </a:rPr>
              <a:t>Structured record</a:t>
            </a:r>
            <a:endParaRPr lang="en-US" sz="1000" dirty="0"/>
          </a:p>
        </p:txBody>
      </p:sp>
      <p:sp>
        <p:nvSpPr>
          <p:cNvPr id="31" name="Shape 28"/>
          <p:cNvSpPr/>
          <p:nvPr/>
        </p:nvSpPr>
        <p:spPr>
          <a:xfrm>
            <a:off x="3246120" y="2825496"/>
            <a:ext cx="3200400" cy="566928"/>
          </a:xfrm>
          <a:prstGeom prst="rect">
            <a:avLst/>
          </a:prstGeom>
          <a:solidFill>
            <a:srgbClr val="F4F6FB"/>
          </a:solidFill>
          <a:ln w="12700">
            <a:solidFill>
              <a:srgbClr val="FFFFFF"/>
            </a:solidFill>
            <a:prstDash val="solid"/>
          </a:ln>
        </p:spPr>
      </p:sp>
      <p:sp>
        <p:nvSpPr>
          <p:cNvPr id="32" name="Text 29"/>
          <p:cNvSpPr/>
          <p:nvPr/>
        </p:nvSpPr>
        <p:spPr>
          <a:xfrm>
            <a:off x="3337560" y="2825496"/>
            <a:ext cx="3017520" cy="566928"/>
          </a:xfrm>
          <a:prstGeom prst="rect">
            <a:avLst/>
          </a:prstGeom>
          <a:noFill/>
          <a:ln/>
        </p:spPr>
        <p:txBody>
          <a:bodyPr wrap="square" lIns="0" tIns="0" rIns="0" bIns="0" rtlCol="0" anchor="ctr"/>
          <a:lstStyle/>
          <a:p>
            <a:pPr indent="0" marL="0">
              <a:lnSpc>
                <a:spcPct val="100000"/>
              </a:lnSpc>
              <a:buNone/>
            </a:pPr>
            <a:r>
              <a:rPr lang="en-US" sz="1000" dirty="0">
                <a:solidFill>
                  <a:srgbClr val="333333"/>
                </a:solidFill>
                <a:latin typeface="Calibri" pitchFamily="34" charset="0"/>
                <a:ea typeface="Calibri" pitchFamily="34" charset="-122"/>
                <a:cs typeface="Calibri" pitchFamily="34" charset="-120"/>
              </a:rPr>
              <a:t>Staging layer, then CRM after rep confirmation</a:t>
            </a:r>
            <a:endParaRPr lang="en-US" sz="1000" dirty="0"/>
          </a:p>
        </p:txBody>
      </p:sp>
      <p:sp>
        <p:nvSpPr>
          <p:cNvPr id="33" name="Shape 30"/>
          <p:cNvSpPr/>
          <p:nvPr/>
        </p:nvSpPr>
        <p:spPr>
          <a:xfrm>
            <a:off x="6537960" y="2825496"/>
            <a:ext cx="2834640" cy="566928"/>
          </a:xfrm>
          <a:prstGeom prst="rect">
            <a:avLst/>
          </a:prstGeom>
          <a:solidFill>
            <a:srgbClr val="F4F6FB"/>
          </a:solidFill>
          <a:ln w="12700">
            <a:solidFill>
              <a:srgbClr val="FFFFFF"/>
            </a:solidFill>
            <a:prstDash val="solid"/>
          </a:ln>
        </p:spPr>
      </p:sp>
      <p:sp>
        <p:nvSpPr>
          <p:cNvPr id="34" name="Text 31"/>
          <p:cNvSpPr/>
          <p:nvPr/>
        </p:nvSpPr>
        <p:spPr>
          <a:xfrm>
            <a:off x="6629400" y="2825496"/>
            <a:ext cx="2651760" cy="566928"/>
          </a:xfrm>
          <a:prstGeom prst="rect">
            <a:avLst/>
          </a:prstGeom>
          <a:noFill/>
          <a:ln/>
        </p:spPr>
        <p:txBody>
          <a:bodyPr wrap="square" lIns="0" tIns="0" rIns="0" bIns="0" rtlCol="0" anchor="ctr"/>
          <a:lstStyle/>
          <a:p>
            <a:pPr indent="0" marL="0">
              <a:lnSpc>
                <a:spcPct val="100000"/>
              </a:lnSpc>
              <a:buNone/>
            </a:pPr>
            <a:r>
              <a:rPr lang="en-US" sz="1000" dirty="0">
                <a:solidFill>
                  <a:srgbClr val="333333"/>
                </a:solidFill>
                <a:latin typeface="Calibri" pitchFamily="34" charset="0"/>
                <a:ea typeface="Calibri" pitchFamily="34" charset="-122"/>
                <a:cs typeface="Calibri" pitchFamily="34" charset="-120"/>
              </a:rPr>
              <a:t>CRM retention policy applies once synced</a:t>
            </a:r>
            <a:endParaRPr lang="en-US" sz="1000" dirty="0"/>
          </a:p>
        </p:txBody>
      </p:sp>
      <p:sp>
        <p:nvSpPr>
          <p:cNvPr id="35" name="Shape 32"/>
          <p:cNvSpPr/>
          <p:nvPr/>
        </p:nvSpPr>
        <p:spPr>
          <a:xfrm>
            <a:off x="9464040" y="2825496"/>
            <a:ext cx="2148840" cy="566928"/>
          </a:xfrm>
          <a:prstGeom prst="rect">
            <a:avLst/>
          </a:prstGeom>
          <a:solidFill>
            <a:srgbClr val="F4F6FB"/>
          </a:solidFill>
          <a:ln w="12700">
            <a:solidFill>
              <a:srgbClr val="FFFFFF"/>
            </a:solidFill>
            <a:prstDash val="solid"/>
          </a:ln>
        </p:spPr>
      </p:sp>
      <p:sp>
        <p:nvSpPr>
          <p:cNvPr id="36" name="Text 33"/>
          <p:cNvSpPr/>
          <p:nvPr/>
        </p:nvSpPr>
        <p:spPr>
          <a:xfrm>
            <a:off x="9555480" y="2825496"/>
            <a:ext cx="1965960" cy="566928"/>
          </a:xfrm>
          <a:prstGeom prst="rect">
            <a:avLst/>
          </a:prstGeom>
          <a:noFill/>
          <a:ln/>
        </p:spPr>
        <p:txBody>
          <a:bodyPr wrap="square" lIns="0" tIns="0" rIns="0" bIns="0" rtlCol="0" anchor="ctr"/>
          <a:lstStyle/>
          <a:p>
            <a:pPr indent="0" marL="0">
              <a:lnSpc>
                <a:spcPct val="100000"/>
              </a:lnSpc>
              <a:buNone/>
            </a:pPr>
            <a:r>
              <a:rPr lang="en-US" sz="1000" dirty="0">
                <a:solidFill>
                  <a:srgbClr val="333333"/>
                </a:solidFill>
                <a:latin typeface="Calibri" pitchFamily="34" charset="0"/>
                <a:ea typeface="Calibri" pitchFamily="34" charset="-122"/>
                <a:cs typeface="Calibri" pitchFamily="34" charset="-120"/>
              </a:rPr>
              <a:t>Rep (own), sales management, restricted IT</a:t>
            </a:r>
            <a:endParaRPr lang="en-US" sz="1000" dirty="0"/>
          </a:p>
        </p:txBody>
      </p:sp>
      <p:sp>
        <p:nvSpPr>
          <p:cNvPr id="37" name="Shape 34"/>
          <p:cNvSpPr/>
          <p:nvPr/>
        </p:nvSpPr>
        <p:spPr>
          <a:xfrm>
            <a:off x="548640" y="3392424"/>
            <a:ext cx="2606040" cy="658368"/>
          </a:xfrm>
          <a:prstGeom prst="rect">
            <a:avLst/>
          </a:prstGeom>
          <a:solidFill>
            <a:srgbClr val="F4F6FB"/>
          </a:solidFill>
          <a:ln w="12700">
            <a:solidFill>
              <a:srgbClr val="FFFFFF"/>
            </a:solidFill>
            <a:prstDash val="solid"/>
          </a:ln>
        </p:spPr>
      </p:sp>
      <p:sp>
        <p:nvSpPr>
          <p:cNvPr id="38" name="Text 35"/>
          <p:cNvSpPr/>
          <p:nvPr/>
        </p:nvSpPr>
        <p:spPr>
          <a:xfrm>
            <a:off x="640080" y="3392424"/>
            <a:ext cx="2423160" cy="658368"/>
          </a:xfrm>
          <a:prstGeom prst="rect">
            <a:avLst/>
          </a:prstGeom>
          <a:noFill/>
          <a:ln/>
        </p:spPr>
        <p:txBody>
          <a:bodyPr wrap="square" lIns="0" tIns="0" rIns="0" bIns="0" rtlCol="0" anchor="ctr"/>
          <a:lstStyle/>
          <a:p>
            <a:pPr indent="0" marL="0">
              <a:lnSpc>
                <a:spcPct val="100000"/>
              </a:lnSpc>
              <a:buNone/>
            </a:pPr>
            <a:r>
              <a:rPr lang="en-US" sz="1000" dirty="0">
                <a:solidFill>
                  <a:srgbClr val="333333"/>
                </a:solidFill>
                <a:latin typeface="Calibri" pitchFamily="34" charset="0"/>
                <a:ea typeface="Calibri" pitchFamily="34" charset="-122"/>
                <a:cs typeface="Calibri" pitchFamily="34" charset="-120"/>
              </a:rPr>
              <a:t>Metadata (time, location, customer match)</a:t>
            </a:r>
            <a:endParaRPr lang="en-US" sz="1000" dirty="0"/>
          </a:p>
        </p:txBody>
      </p:sp>
      <p:sp>
        <p:nvSpPr>
          <p:cNvPr id="39" name="Shape 36"/>
          <p:cNvSpPr/>
          <p:nvPr/>
        </p:nvSpPr>
        <p:spPr>
          <a:xfrm>
            <a:off x="3246120" y="3392424"/>
            <a:ext cx="3200400" cy="658368"/>
          </a:xfrm>
          <a:prstGeom prst="rect">
            <a:avLst/>
          </a:prstGeom>
          <a:solidFill>
            <a:srgbClr val="F4F6FB"/>
          </a:solidFill>
          <a:ln w="12700">
            <a:solidFill>
              <a:srgbClr val="FFFFFF"/>
            </a:solidFill>
            <a:prstDash val="solid"/>
          </a:ln>
        </p:spPr>
      </p:sp>
      <p:sp>
        <p:nvSpPr>
          <p:cNvPr id="40" name="Text 37"/>
          <p:cNvSpPr/>
          <p:nvPr/>
        </p:nvSpPr>
        <p:spPr>
          <a:xfrm>
            <a:off x="3337560" y="3392424"/>
            <a:ext cx="3017520" cy="658368"/>
          </a:xfrm>
          <a:prstGeom prst="rect">
            <a:avLst/>
          </a:prstGeom>
          <a:noFill/>
          <a:ln/>
        </p:spPr>
        <p:txBody>
          <a:bodyPr wrap="square" lIns="0" tIns="0" rIns="0" bIns="0" rtlCol="0" anchor="ctr"/>
          <a:lstStyle/>
          <a:p>
            <a:pPr indent="0" marL="0">
              <a:lnSpc>
                <a:spcPct val="100000"/>
              </a:lnSpc>
              <a:buNone/>
            </a:pPr>
            <a:r>
              <a:rPr lang="en-US" sz="1000" dirty="0">
                <a:solidFill>
                  <a:srgbClr val="333333"/>
                </a:solidFill>
                <a:latin typeface="Calibri" pitchFamily="34" charset="0"/>
                <a:ea typeface="Calibri" pitchFamily="34" charset="-122"/>
                <a:cs typeface="Calibri" pitchFamily="34" charset="-120"/>
              </a:rPr>
              <a:t>Attached to the structured record</a:t>
            </a:r>
            <a:endParaRPr lang="en-US" sz="1000" dirty="0"/>
          </a:p>
        </p:txBody>
      </p:sp>
      <p:sp>
        <p:nvSpPr>
          <p:cNvPr id="41" name="Shape 38"/>
          <p:cNvSpPr/>
          <p:nvPr/>
        </p:nvSpPr>
        <p:spPr>
          <a:xfrm>
            <a:off x="6537960" y="3392424"/>
            <a:ext cx="2834640" cy="658368"/>
          </a:xfrm>
          <a:prstGeom prst="rect">
            <a:avLst/>
          </a:prstGeom>
          <a:solidFill>
            <a:srgbClr val="F4F6FB"/>
          </a:solidFill>
          <a:ln w="12700">
            <a:solidFill>
              <a:srgbClr val="FFFFFF"/>
            </a:solidFill>
            <a:prstDash val="solid"/>
          </a:ln>
        </p:spPr>
      </p:sp>
      <p:sp>
        <p:nvSpPr>
          <p:cNvPr id="42" name="Text 39"/>
          <p:cNvSpPr/>
          <p:nvPr/>
        </p:nvSpPr>
        <p:spPr>
          <a:xfrm>
            <a:off x="6629400" y="3392424"/>
            <a:ext cx="2651760" cy="658368"/>
          </a:xfrm>
          <a:prstGeom prst="rect">
            <a:avLst/>
          </a:prstGeom>
          <a:noFill/>
          <a:ln/>
        </p:spPr>
        <p:txBody>
          <a:bodyPr wrap="square" lIns="0" tIns="0" rIns="0" bIns="0" rtlCol="0" anchor="ctr"/>
          <a:lstStyle/>
          <a:p>
            <a:pPr indent="0" marL="0">
              <a:lnSpc>
                <a:spcPct val="100000"/>
              </a:lnSpc>
              <a:buNone/>
            </a:pPr>
            <a:r>
              <a:rPr lang="en-US" sz="1000" dirty="0">
                <a:solidFill>
                  <a:srgbClr val="333333"/>
                </a:solidFill>
                <a:latin typeface="Calibri" pitchFamily="34" charset="0"/>
                <a:ea typeface="Calibri" pitchFamily="34" charset="-122"/>
                <a:cs typeface="Calibri" pitchFamily="34" charset="-120"/>
              </a:rPr>
              <a:t>Same as structured record</a:t>
            </a:r>
            <a:endParaRPr lang="en-US" sz="1000" dirty="0"/>
          </a:p>
        </p:txBody>
      </p:sp>
      <p:sp>
        <p:nvSpPr>
          <p:cNvPr id="43" name="Shape 40"/>
          <p:cNvSpPr/>
          <p:nvPr/>
        </p:nvSpPr>
        <p:spPr>
          <a:xfrm>
            <a:off x="9464040" y="3392424"/>
            <a:ext cx="2148840" cy="658368"/>
          </a:xfrm>
          <a:prstGeom prst="rect">
            <a:avLst/>
          </a:prstGeom>
          <a:solidFill>
            <a:srgbClr val="F4F6FB"/>
          </a:solidFill>
          <a:ln w="12700">
            <a:solidFill>
              <a:srgbClr val="FFFFFF"/>
            </a:solidFill>
            <a:prstDash val="solid"/>
          </a:ln>
        </p:spPr>
      </p:sp>
      <p:sp>
        <p:nvSpPr>
          <p:cNvPr id="44" name="Text 41"/>
          <p:cNvSpPr/>
          <p:nvPr/>
        </p:nvSpPr>
        <p:spPr>
          <a:xfrm>
            <a:off x="9555480" y="3392424"/>
            <a:ext cx="1965960" cy="658368"/>
          </a:xfrm>
          <a:prstGeom prst="rect">
            <a:avLst/>
          </a:prstGeom>
          <a:noFill/>
          <a:ln/>
        </p:spPr>
        <p:txBody>
          <a:bodyPr wrap="square" lIns="0" tIns="0" rIns="0" bIns="0" rtlCol="0" anchor="ctr"/>
          <a:lstStyle/>
          <a:p>
            <a:pPr indent="0" marL="0">
              <a:lnSpc>
                <a:spcPct val="100000"/>
              </a:lnSpc>
              <a:buNone/>
            </a:pPr>
            <a:r>
              <a:rPr lang="en-US" sz="1000" dirty="0">
                <a:solidFill>
                  <a:srgbClr val="333333"/>
                </a:solidFill>
                <a:latin typeface="Calibri" pitchFamily="34" charset="0"/>
                <a:ea typeface="Calibri" pitchFamily="34" charset="-122"/>
                <a:cs typeface="Calibri" pitchFamily="34" charset="-120"/>
              </a:rPr>
              <a:t>Same as structured record</a:t>
            </a:r>
            <a:endParaRPr lang="en-US" sz="1000" dirty="0"/>
          </a:p>
        </p:txBody>
      </p:sp>
      <p:sp>
        <p:nvSpPr>
          <p:cNvPr id="45" name="Text 42"/>
          <p:cNvSpPr/>
          <p:nvPr/>
        </p:nvSpPr>
        <p:spPr>
          <a:xfrm>
            <a:off x="548640" y="4279392"/>
            <a:ext cx="11064240" cy="1188720"/>
          </a:xfrm>
          <a:prstGeom prst="rect">
            <a:avLst/>
          </a:prstGeom>
          <a:noFill/>
          <a:ln/>
        </p:spPr>
        <p:txBody>
          <a:bodyPr wrap="square" lIns="0" tIns="0" rIns="0" bIns="0" rtlCol="0" anchor="t"/>
          <a:lstStyle/>
          <a:p>
            <a:pPr marL="177800" indent="-177800">
              <a:lnSpc>
                <a:spcPct val="108000"/>
              </a:lnSpc>
              <a:spcAft>
                <a:spcPts val="800"/>
              </a:spcAft>
              <a:buSzPct val="100000"/>
              <a:buChar char="•"/>
            </a:pPr>
            <a:r>
              <a:rPr lang="en-US" sz="1200" dirty="0">
                <a:solidFill>
                  <a:srgbClr val="333333"/>
                </a:solidFill>
                <a:latin typeface="Calibri" pitchFamily="34" charset="0"/>
                <a:ea typeface="Calibri" pitchFamily="34" charset="-122"/>
                <a:cs typeface="Calibri" pitchFamily="34" charset="-120"/>
              </a:rPr>
              <a:t>All storage and processing occur within EU Azure regions only.</a:t>
            </a:r>
            <a:endParaRPr lang="en-US" sz="1200" dirty="0"/>
          </a:p>
          <a:p>
            <a:pPr marL="177800" indent="-177800">
              <a:lnSpc>
                <a:spcPct val="108000"/>
              </a:lnSpc>
              <a:spcAft>
                <a:spcPts val="800"/>
              </a:spcAft>
              <a:buSzPct val="100000"/>
              <a:buChar char="•"/>
            </a:pPr>
            <a:r>
              <a:rPr lang="en-US" sz="1200" dirty="0">
                <a:solidFill>
                  <a:srgbClr val="333333"/>
                </a:solidFill>
                <a:latin typeface="Calibri" pitchFamily="34" charset="0"/>
                <a:ea typeface="Calibri" pitchFamily="34" charset="-122"/>
                <a:cs typeface="Calibri" pitchFamily="34" charset="-120"/>
              </a:rPr>
              <a:t>Encryption in transit (TLS) and at rest, throughout.</a:t>
            </a:r>
            <a:endParaRPr lang="en-US" sz="1200" dirty="0"/>
          </a:p>
          <a:p>
            <a:pPr marL="177800" indent="-177800">
              <a:lnSpc>
                <a:spcPct val="108000"/>
              </a:lnSpc>
              <a:spcAft>
                <a:spcPts val="800"/>
              </a:spcAft>
              <a:buSzPct val="100000"/>
              <a:buChar char="•"/>
            </a:pPr>
            <a:r>
              <a:rPr lang="en-US" sz="1200" dirty="0">
                <a:solidFill>
                  <a:srgbClr val="333333"/>
                </a:solidFill>
                <a:latin typeface="Calibri" pitchFamily="34" charset="0"/>
                <a:ea typeface="Calibri" pitchFamily="34" charset="-122"/>
                <a:cs typeface="Calibri" pitchFamily="34" charset="-120"/>
              </a:rPr>
              <a:t>Raw audio is deleted only after transcription success is confirmed, not at end-of-recording, to avoid silent data loss on poor connectivity.</a:t>
            </a:r>
            <a:endParaRPr lang="en-US" sz="1200" dirty="0"/>
          </a:p>
        </p:txBody>
      </p:sp>
      <p:sp>
        <p:nvSpPr>
          <p:cNvPr id="46" name="Text 43"/>
          <p:cNvSpPr/>
          <p:nvPr/>
        </p:nvSpPr>
        <p:spPr>
          <a:xfrm>
            <a:off x="11521440" y="6446520"/>
            <a:ext cx="36576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1247120" cy="594360"/>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Ownership: Who Maintains What, Long Term</a:t>
            </a:r>
            <a:endParaRPr lang="en-US" sz="2800" dirty="0"/>
          </a:p>
        </p:txBody>
      </p:sp>
      <p:sp>
        <p:nvSpPr>
          <p:cNvPr id="3" name="Shape 1"/>
          <p:cNvSpPr/>
          <p:nvPr/>
        </p:nvSpPr>
        <p:spPr>
          <a:xfrm>
            <a:off x="548640" y="1371600"/>
            <a:ext cx="2606040" cy="3931920"/>
          </a:xfrm>
          <a:prstGeom prst="roundRect">
            <a:avLst>
              <a:gd name="adj" fmla="val 2807"/>
            </a:avLst>
          </a:prstGeom>
          <a:solidFill>
            <a:srgbClr val="F4F6FB"/>
          </a:solidFill>
          <a:ln w="9525">
            <a:solidFill>
              <a:srgbClr val="DCE3F0"/>
            </a:solidFill>
            <a:prstDash val="solid"/>
          </a:ln>
          <a:effectLst>
            <a:outerShdw sx="100000" sy="100000" kx="0" ky="0" algn="bl" rotWithShape="0" blurRad="76200" dist="25400" dir="5400000">
              <a:srgbClr val="1E2761">
                <a:alpha val="12000"/>
              </a:srgbClr>
            </a:outerShdw>
          </a:effectLst>
        </p:spPr>
      </p:sp>
      <p:sp>
        <p:nvSpPr>
          <p:cNvPr id="4" name="Shape 2"/>
          <p:cNvSpPr/>
          <p:nvPr/>
        </p:nvSpPr>
        <p:spPr>
          <a:xfrm>
            <a:off x="1531620" y="1691640"/>
            <a:ext cx="640080" cy="640080"/>
          </a:xfrm>
          <a:prstGeom prst="ellipse">
            <a:avLst/>
          </a:prstGeom>
          <a:solidFill>
            <a:srgbClr val="1E2761"/>
          </a:solidFill>
          <a:ln/>
        </p:spPr>
      </p:sp>
      <p:pic>
        <p:nvPicPr>
          <p:cNvPr id="5" name="Image 0" descr="/home/claude/icons/FaUserTie.png">    </p:cNvPr>
          <p:cNvPicPr>
            <a:picLocks noChangeAspect="1"/>
          </p:cNvPicPr>
          <p:nvPr/>
        </p:nvPicPr>
        <p:blipFill>
          <a:blip r:embed="rId1"/>
          <a:stretch>
            <a:fillRect/>
          </a:stretch>
        </p:blipFill>
        <p:spPr>
          <a:xfrm>
            <a:off x="1685239" y="1845259"/>
            <a:ext cx="332842" cy="332842"/>
          </a:xfrm>
          <a:prstGeom prst="rect">
            <a:avLst/>
          </a:prstGeom>
        </p:spPr>
      </p:pic>
      <p:sp>
        <p:nvSpPr>
          <p:cNvPr id="6" name="Text 3"/>
          <p:cNvSpPr/>
          <p:nvPr/>
        </p:nvSpPr>
        <p:spPr>
          <a:xfrm>
            <a:off x="731520" y="2651760"/>
            <a:ext cx="2240280" cy="594360"/>
          </a:xfrm>
          <a:prstGeom prst="rect">
            <a:avLst/>
          </a:prstGeom>
          <a:noFill/>
          <a:ln/>
        </p:spPr>
        <p:txBody>
          <a:bodyPr wrap="square" lIns="0" tIns="0" rIns="0" bIns="0" rtlCol="0" anchor="t"/>
          <a:lstStyle/>
          <a:p>
            <a:pPr algn="ctr" indent="0" marL="0">
              <a:buNone/>
            </a:pPr>
            <a:r>
              <a:rPr lang="en-US" sz="1350" b="1" dirty="0">
                <a:solidFill>
                  <a:srgbClr val="1E2761"/>
                </a:solidFill>
                <a:latin typeface="Cambria" pitchFamily="34" charset="0"/>
                <a:ea typeface="Cambria" pitchFamily="34" charset="-122"/>
                <a:cs typeface="Cambria" pitchFamily="34" charset="-120"/>
              </a:rPr>
              <a:t>Sales Management</a:t>
            </a:r>
            <a:endParaRPr lang="en-US" sz="1350" dirty="0"/>
          </a:p>
        </p:txBody>
      </p:sp>
      <p:sp>
        <p:nvSpPr>
          <p:cNvPr id="7" name="Text 4"/>
          <p:cNvSpPr/>
          <p:nvPr/>
        </p:nvSpPr>
        <p:spPr>
          <a:xfrm>
            <a:off x="777240" y="3291840"/>
            <a:ext cx="2148840" cy="1874520"/>
          </a:xfrm>
          <a:prstGeom prst="rect">
            <a:avLst/>
          </a:prstGeom>
          <a:noFill/>
          <a:ln/>
        </p:spPr>
        <p:txBody>
          <a:bodyPr wrap="square" lIns="0" tIns="0" rIns="0" bIns="0" rtlCol="0" anchor="t"/>
          <a:lstStyle/>
          <a:p>
            <a:pPr algn="l" indent="0" marL="0">
              <a:lnSpc>
                <a:spcPct val="112000"/>
              </a:lnSpc>
              <a:buNone/>
            </a:pPr>
            <a:r>
              <a:rPr lang="en-US" sz="1050" dirty="0">
                <a:solidFill>
                  <a:srgbClr val="333333"/>
                </a:solidFill>
                <a:latin typeface="Calibri" pitchFamily="34" charset="0"/>
                <a:ea typeface="Calibri" pitchFamily="34" charset="-122"/>
                <a:cs typeface="Calibri" pitchFamily="34" charset="-120"/>
              </a:rPr>
              <a:t>Owns the approved meeting-type schemas and templates. Decides which fields are mandatory. Owns the policy on how usage is tracked and communicated.</a:t>
            </a:r>
            <a:endParaRPr lang="en-US" sz="1050" dirty="0"/>
          </a:p>
        </p:txBody>
      </p:sp>
      <p:sp>
        <p:nvSpPr>
          <p:cNvPr id="8" name="Shape 5"/>
          <p:cNvSpPr/>
          <p:nvPr/>
        </p:nvSpPr>
        <p:spPr>
          <a:xfrm>
            <a:off x="3383280" y="1371600"/>
            <a:ext cx="2606040" cy="3931920"/>
          </a:xfrm>
          <a:prstGeom prst="roundRect">
            <a:avLst>
              <a:gd name="adj" fmla="val 2807"/>
            </a:avLst>
          </a:prstGeom>
          <a:solidFill>
            <a:srgbClr val="F4F6FB"/>
          </a:solidFill>
          <a:ln w="9525">
            <a:solidFill>
              <a:srgbClr val="DCE3F0"/>
            </a:solidFill>
            <a:prstDash val="solid"/>
          </a:ln>
          <a:effectLst>
            <a:outerShdw sx="100000" sy="100000" kx="0" ky="0" algn="bl" rotWithShape="0" blurRad="76200" dist="25400" dir="5400000">
              <a:srgbClr val="1E2761">
                <a:alpha val="12000"/>
              </a:srgbClr>
            </a:outerShdw>
          </a:effectLst>
        </p:spPr>
      </p:sp>
      <p:sp>
        <p:nvSpPr>
          <p:cNvPr id="9" name="Shape 6"/>
          <p:cNvSpPr/>
          <p:nvPr/>
        </p:nvSpPr>
        <p:spPr>
          <a:xfrm>
            <a:off x="4366260" y="1691640"/>
            <a:ext cx="640080" cy="640080"/>
          </a:xfrm>
          <a:prstGeom prst="ellipse">
            <a:avLst/>
          </a:prstGeom>
          <a:solidFill>
            <a:srgbClr val="1E2761"/>
          </a:solidFill>
          <a:ln/>
        </p:spPr>
      </p:sp>
      <p:pic>
        <p:nvPicPr>
          <p:cNvPr id="10" name="Image 1" descr="/home/claude/icons/FaServer.png">    </p:cNvPr>
          <p:cNvPicPr>
            <a:picLocks noChangeAspect="1"/>
          </p:cNvPicPr>
          <p:nvPr/>
        </p:nvPicPr>
        <p:blipFill>
          <a:blip r:embed="rId2"/>
          <a:stretch>
            <a:fillRect/>
          </a:stretch>
        </p:blipFill>
        <p:spPr>
          <a:xfrm>
            <a:off x="4519879" y="1845259"/>
            <a:ext cx="332842" cy="332842"/>
          </a:xfrm>
          <a:prstGeom prst="rect">
            <a:avLst/>
          </a:prstGeom>
        </p:spPr>
      </p:pic>
      <p:sp>
        <p:nvSpPr>
          <p:cNvPr id="11" name="Text 7"/>
          <p:cNvSpPr/>
          <p:nvPr/>
        </p:nvSpPr>
        <p:spPr>
          <a:xfrm>
            <a:off x="3566160" y="2651760"/>
            <a:ext cx="2240280" cy="594360"/>
          </a:xfrm>
          <a:prstGeom prst="rect">
            <a:avLst/>
          </a:prstGeom>
          <a:noFill/>
          <a:ln/>
        </p:spPr>
        <p:txBody>
          <a:bodyPr wrap="square" lIns="0" tIns="0" rIns="0" bIns="0" rtlCol="0" anchor="t"/>
          <a:lstStyle/>
          <a:p>
            <a:pPr algn="ctr" indent="0" marL="0">
              <a:buNone/>
            </a:pPr>
            <a:r>
              <a:rPr lang="en-US" sz="1350" b="1" dirty="0">
                <a:solidFill>
                  <a:srgbClr val="1E2761"/>
                </a:solidFill>
                <a:latin typeface="Cambria" pitchFamily="34" charset="0"/>
                <a:ea typeface="Cambria" pitchFamily="34" charset="-122"/>
                <a:cs typeface="Cambria" pitchFamily="34" charset="-120"/>
              </a:rPr>
              <a:t>IT / Architecture</a:t>
            </a:r>
            <a:endParaRPr lang="en-US" sz="1350" dirty="0"/>
          </a:p>
        </p:txBody>
      </p:sp>
      <p:sp>
        <p:nvSpPr>
          <p:cNvPr id="12" name="Text 8"/>
          <p:cNvSpPr/>
          <p:nvPr/>
        </p:nvSpPr>
        <p:spPr>
          <a:xfrm>
            <a:off x="3611880" y="3291840"/>
            <a:ext cx="2148840" cy="1874520"/>
          </a:xfrm>
          <a:prstGeom prst="rect">
            <a:avLst/>
          </a:prstGeom>
          <a:noFill/>
          <a:ln/>
        </p:spPr>
        <p:txBody>
          <a:bodyPr wrap="square" lIns="0" tIns="0" rIns="0" bIns="0" rtlCol="0" anchor="t"/>
          <a:lstStyle/>
          <a:p>
            <a:pPr algn="l" indent="0" marL="0">
              <a:lnSpc>
                <a:spcPct val="112000"/>
              </a:lnSpc>
              <a:buNone/>
            </a:pPr>
            <a:r>
              <a:rPr lang="en-US" sz="1050" dirty="0">
                <a:solidFill>
                  <a:srgbClr val="333333"/>
                </a:solidFill>
                <a:latin typeface="Calibri" pitchFamily="34" charset="0"/>
                <a:ea typeface="Calibri" pitchFamily="34" charset="-122"/>
                <a:cs typeface="Calibri" pitchFamily="34" charset="-120"/>
              </a:rPr>
              <a:t>Owns the capture app, the AI pipeline, the staging layer, and the governed sync mechanism. Responsible for security, uptime, and long-term maintainability.</a:t>
            </a:r>
            <a:endParaRPr lang="en-US" sz="1050" dirty="0"/>
          </a:p>
        </p:txBody>
      </p:sp>
      <p:sp>
        <p:nvSpPr>
          <p:cNvPr id="13" name="Shape 9"/>
          <p:cNvSpPr/>
          <p:nvPr/>
        </p:nvSpPr>
        <p:spPr>
          <a:xfrm>
            <a:off x="6217920" y="1371600"/>
            <a:ext cx="2606040" cy="3931920"/>
          </a:xfrm>
          <a:prstGeom prst="roundRect">
            <a:avLst>
              <a:gd name="adj" fmla="val 2807"/>
            </a:avLst>
          </a:prstGeom>
          <a:solidFill>
            <a:srgbClr val="F4F6FB"/>
          </a:solidFill>
          <a:ln w="9525">
            <a:solidFill>
              <a:srgbClr val="DCE3F0"/>
            </a:solidFill>
            <a:prstDash val="solid"/>
          </a:ln>
          <a:effectLst>
            <a:outerShdw sx="100000" sy="100000" kx="0" ky="0" algn="bl" rotWithShape="0" blurRad="76200" dist="25400" dir="5400000">
              <a:srgbClr val="1E2761">
                <a:alpha val="12000"/>
              </a:srgbClr>
            </a:outerShdw>
          </a:effectLst>
        </p:spPr>
      </p:sp>
      <p:sp>
        <p:nvSpPr>
          <p:cNvPr id="14" name="Shape 10"/>
          <p:cNvSpPr/>
          <p:nvPr/>
        </p:nvSpPr>
        <p:spPr>
          <a:xfrm>
            <a:off x="7200900" y="1691640"/>
            <a:ext cx="640080" cy="640080"/>
          </a:xfrm>
          <a:prstGeom prst="ellipse">
            <a:avLst/>
          </a:prstGeom>
          <a:solidFill>
            <a:srgbClr val="1E2761"/>
          </a:solidFill>
          <a:ln/>
        </p:spPr>
      </p:sp>
      <p:pic>
        <p:nvPicPr>
          <p:cNvPr id="15" name="Image 2" descr="/home/claude/icons/FaChartLine.png">    </p:cNvPr>
          <p:cNvPicPr>
            <a:picLocks noChangeAspect="1"/>
          </p:cNvPicPr>
          <p:nvPr/>
        </p:nvPicPr>
        <p:blipFill>
          <a:blip r:embed="rId3"/>
          <a:stretch>
            <a:fillRect/>
          </a:stretch>
        </p:blipFill>
        <p:spPr>
          <a:xfrm>
            <a:off x="7354519" y="1845259"/>
            <a:ext cx="332842" cy="332842"/>
          </a:xfrm>
          <a:prstGeom prst="rect">
            <a:avLst/>
          </a:prstGeom>
        </p:spPr>
      </p:pic>
      <p:sp>
        <p:nvSpPr>
          <p:cNvPr id="16" name="Text 11"/>
          <p:cNvSpPr/>
          <p:nvPr/>
        </p:nvSpPr>
        <p:spPr>
          <a:xfrm>
            <a:off x="6400800" y="2651760"/>
            <a:ext cx="2240280" cy="594360"/>
          </a:xfrm>
          <a:prstGeom prst="rect">
            <a:avLst/>
          </a:prstGeom>
          <a:noFill/>
          <a:ln/>
        </p:spPr>
        <p:txBody>
          <a:bodyPr wrap="square" lIns="0" tIns="0" rIns="0" bIns="0" rtlCol="0" anchor="t"/>
          <a:lstStyle/>
          <a:p>
            <a:pPr algn="ctr" indent="0" marL="0">
              <a:buNone/>
            </a:pPr>
            <a:r>
              <a:rPr lang="en-US" sz="1350" b="1" dirty="0">
                <a:solidFill>
                  <a:srgbClr val="1E2761"/>
                </a:solidFill>
                <a:latin typeface="Cambria" pitchFamily="34" charset="0"/>
                <a:ea typeface="Cambria" pitchFamily="34" charset="-122"/>
                <a:cs typeface="Cambria" pitchFamily="34" charset="-120"/>
              </a:rPr>
              <a:t>BI / Analytics</a:t>
            </a:r>
            <a:endParaRPr lang="en-US" sz="1350" dirty="0"/>
          </a:p>
        </p:txBody>
      </p:sp>
      <p:sp>
        <p:nvSpPr>
          <p:cNvPr id="17" name="Text 12"/>
          <p:cNvSpPr/>
          <p:nvPr/>
        </p:nvSpPr>
        <p:spPr>
          <a:xfrm>
            <a:off x="6446520" y="3291840"/>
            <a:ext cx="2148840" cy="1874520"/>
          </a:xfrm>
          <a:prstGeom prst="rect">
            <a:avLst/>
          </a:prstGeom>
          <a:noFill/>
          <a:ln/>
        </p:spPr>
        <p:txBody>
          <a:bodyPr wrap="square" lIns="0" tIns="0" rIns="0" bIns="0" rtlCol="0" anchor="t"/>
          <a:lstStyle/>
          <a:p>
            <a:pPr algn="l" indent="0" marL="0">
              <a:lnSpc>
                <a:spcPct val="112000"/>
              </a:lnSpc>
              <a:buNone/>
            </a:pPr>
            <a:r>
              <a:rPr lang="en-US" sz="1050" dirty="0">
                <a:solidFill>
                  <a:srgbClr val="333333"/>
                </a:solidFill>
                <a:latin typeface="Calibri" pitchFamily="34" charset="0"/>
                <a:ea typeface="Calibri" pitchFamily="34" charset="-122"/>
                <a:cs typeface="Calibri" pitchFamily="34" charset="-120"/>
              </a:rPr>
              <a:t>Read-only access to the staging or analytics layer for trend reporting. No access to raw individual transcripts by default.</a:t>
            </a:r>
            <a:endParaRPr lang="en-US" sz="1050" dirty="0"/>
          </a:p>
        </p:txBody>
      </p:sp>
      <p:sp>
        <p:nvSpPr>
          <p:cNvPr id="18" name="Shape 13"/>
          <p:cNvSpPr/>
          <p:nvPr/>
        </p:nvSpPr>
        <p:spPr>
          <a:xfrm>
            <a:off x="9052560" y="1371600"/>
            <a:ext cx="2606040" cy="3931920"/>
          </a:xfrm>
          <a:prstGeom prst="roundRect">
            <a:avLst>
              <a:gd name="adj" fmla="val 2807"/>
            </a:avLst>
          </a:prstGeom>
          <a:solidFill>
            <a:srgbClr val="F4F6FB"/>
          </a:solidFill>
          <a:ln w="9525">
            <a:solidFill>
              <a:srgbClr val="DCE3F0"/>
            </a:solidFill>
            <a:prstDash val="solid"/>
          </a:ln>
          <a:effectLst>
            <a:outerShdw sx="100000" sy="100000" kx="0" ky="0" algn="bl" rotWithShape="0" blurRad="76200" dist="25400" dir="5400000">
              <a:srgbClr val="1E2761">
                <a:alpha val="12000"/>
              </a:srgbClr>
            </a:outerShdw>
          </a:effectLst>
        </p:spPr>
      </p:sp>
      <p:sp>
        <p:nvSpPr>
          <p:cNvPr id="19" name="Shape 14"/>
          <p:cNvSpPr/>
          <p:nvPr/>
        </p:nvSpPr>
        <p:spPr>
          <a:xfrm>
            <a:off x="10035540" y="1691640"/>
            <a:ext cx="640080" cy="640080"/>
          </a:xfrm>
          <a:prstGeom prst="ellipse">
            <a:avLst/>
          </a:prstGeom>
          <a:solidFill>
            <a:srgbClr val="1E2761"/>
          </a:solidFill>
          <a:ln/>
        </p:spPr>
      </p:sp>
      <p:pic>
        <p:nvPicPr>
          <p:cNvPr id="20" name="Image 3" descr="/home/claude/icons/FaUser.png">    </p:cNvPr>
          <p:cNvPicPr>
            <a:picLocks noChangeAspect="1"/>
          </p:cNvPicPr>
          <p:nvPr/>
        </p:nvPicPr>
        <p:blipFill>
          <a:blip r:embed="rId4"/>
          <a:stretch>
            <a:fillRect/>
          </a:stretch>
        </p:blipFill>
        <p:spPr>
          <a:xfrm>
            <a:off x="10189159" y="1845259"/>
            <a:ext cx="332842" cy="332842"/>
          </a:xfrm>
          <a:prstGeom prst="rect">
            <a:avLst/>
          </a:prstGeom>
        </p:spPr>
      </p:pic>
      <p:sp>
        <p:nvSpPr>
          <p:cNvPr id="21" name="Text 15"/>
          <p:cNvSpPr/>
          <p:nvPr/>
        </p:nvSpPr>
        <p:spPr>
          <a:xfrm>
            <a:off x="9235440" y="2651760"/>
            <a:ext cx="2240280" cy="594360"/>
          </a:xfrm>
          <a:prstGeom prst="rect">
            <a:avLst/>
          </a:prstGeom>
          <a:noFill/>
          <a:ln/>
        </p:spPr>
        <p:txBody>
          <a:bodyPr wrap="square" lIns="0" tIns="0" rIns="0" bIns="0" rtlCol="0" anchor="t"/>
          <a:lstStyle/>
          <a:p>
            <a:pPr algn="ctr" indent="0" marL="0">
              <a:buNone/>
            </a:pPr>
            <a:r>
              <a:rPr lang="en-US" sz="1350" b="1" dirty="0">
                <a:solidFill>
                  <a:srgbClr val="1E2761"/>
                </a:solidFill>
                <a:latin typeface="Cambria" pitchFamily="34" charset="0"/>
                <a:ea typeface="Cambria" pitchFamily="34" charset="-122"/>
                <a:cs typeface="Cambria" pitchFamily="34" charset="-120"/>
              </a:rPr>
              <a:t>Sales Representative</a:t>
            </a:r>
            <a:endParaRPr lang="en-US" sz="1350" dirty="0"/>
          </a:p>
        </p:txBody>
      </p:sp>
      <p:sp>
        <p:nvSpPr>
          <p:cNvPr id="22" name="Text 16"/>
          <p:cNvSpPr/>
          <p:nvPr/>
        </p:nvSpPr>
        <p:spPr>
          <a:xfrm>
            <a:off x="9281160" y="3291840"/>
            <a:ext cx="2148840" cy="1874520"/>
          </a:xfrm>
          <a:prstGeom prst="rect">
            <a:avLst/>
          </a:prstGeom>
          <a:noFill/>
          <a:ln/>
        </p:spPr>
        <p:txBody>
          <a:bodyPr wrap="square" lIns="0" tIns="0" rIns="0" bIns="0" rtlCol="0" anchor="t"/>
          <a:lstStyle/>
          <a:p>
            <a:pPr algn="l" indent="0" marL="0">
              <a:lnSpc>
                <a:spcPct val="112000"/>
              </a:lnSpc>
              <a:buNone/>
            </a:pPr>
            <a:r>
              <a:rPr lang="en-US" sz="1050" dirty="0">
                <a:solidFill>
                  <a:srgbClr val="333333"/>
                </a:solidFill>
                <a:latin typeface="Calibri" pitchFamily="34" charset="0"/>
                <a:ea typeface="Calibri" pitchFamily="34" charset="-122"/>
                <a:cs typeface="Calibri" pitchFamily="34" charset="-120"/>
              </a:rPr>
              <a:t>Owns and can see their own records in full. Reviews and confirms every record before it is written to the CRM.</a:t>
            </a:r>
            <a:endParaRPr lang="en-US" sz="1050" dirty="0"/>
          </a:p>
        </p:txBody>
      </p:sp>
      <p:sp>
        <p:nvSpPr>
          <p:cNvPr id="23" name="Text 17"/>
          <p:cNvSpPr/>
          <p:nvPr/>
        </p:nvSpPr>
        <p:spPr>
          <a:xfrm>
            <a:off x="11521440" y="6446520"/>
            <a:ext cx="36576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1E2761"/>
          </a:solidFill>
          <a:ln/>
        </p:spPr>
      </p:sp>
      <p:pic>
        <p:nvPicPr>
          <p:cNvPr id="3" name="Image 0" descr="/home/claude/icons/FaCircleExclamation.png">    </p:cNvPr>
          <p:cNvPicPr>
            <a:picLocks noChangeAspect="1"/>
          </p:cNvPicPr>
          <p:nvPr/>
        </p:nvPicPr>
        <p:blipFill>
          <a:blip r:embed="rId1"/>
          <a:stretch>
            <a:fillRect/>
          </a:stretch>
        </p:blipFill>
        <p:spPr>
          <a:xfrm>
            <a:off x="576072" y="502920"/>
            <a:ext cx="237744" cy="237744"/>
          </a:xfrm>
          <a:prstGeom prst="rect">
            <a:avLst/>
          </a:prstGeom>
        </p:spPr>
      </p:pic>
      <p:sp>
        <p:nvSpPr>
          <p:cNvPr id="4" name="Text 1"/>
          <p:cNvSpPr/>
          <p:nvPr/>
        </p:nvSpPr>
        <p:spPr>
          <a:xfrm>
            <a:off x="1051560" y="320040"/>
            <a:ext cx="10652760" cy="594360"/>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Open Risks, Even in a Best-Practice Design</a:t>
            </a:r>
            <a:endParaRPr lang="en-US" sz="2800" dirty="0"/>
          </a:p>
        </p:txBody>
      </p:sp>
      <p:sp>
        <p:nvSpPr>
          <p:cNvPr id="5" name="Shape 2"/>
          <p:cNvSpPr/>
          <p:nvPr/>
        </p:nvSpPr>
        <p:spPr>
          <a:xfrm>
            <a:off x="640080" y="1417320"/>
            <a:ext cx="10881360" cy="914400"/>
          </a:xfrm>
          <a:prstGeom prst="roundRect">
            <a:avLst>
              <a:gd name="adj" fmla="val 8000"/>
            </a:avLst>
          </a:prstGeom>
          <a:solidFill>
            <a:srgbClr val="F4F6FB"/>
          </a:solidFill>
          <a:ln w="9525">
            <a:solidFill>
              <a:srgbClr val="DCE3F0"/>
            </a:solidFill>
            <a:prstDash val="solid"/>
          </a:ln>
        </p:spPr>
      </p:sp>
      <p:sp>
        <p:nvSpPr>
          <p:cNvPr id="6" name="Shape 3"/>
          <p:cNvSpPr/>
          <p:nvPr/>
        </p:nvSpPr>
        <p:spPr>
          <a:xfrm>
            <a:off x="896112" y="1709928"/>
            <a:ext cx="329184" cy="329184"/>
          </a:xfrm>
          <a:prstGeom prst="ellipse">
            <a:avLst/>
          </a:prstGeom>
          <a:solidFill>
            <a:srgbClr val="C9A227"/>
          </a:solidFill>
          <a:ln/>
        </p:spPr>
      </p:sp>
      <p:sp>
        <p:nvSpPr>
          <p:cNvPr id="7" name="Text 4"/>
          <p:cNvSpPr/>
          <p:nvPr/>
        </p:nvSpPr>
        <p:spPr>
          <a:xfrm>
            <a:off x="896112" y="1709928"/>
            <a:ext cx="329184" cy="329184"/>
          </a:xfrm>
          <a:prstGeom prst="rect">
            <a:avLst/>
          </a:prstGeom>
          <a:noFill/>
          <a:ln/>
        </p:spPr>
        <p:txBody>
          <a:bodyPr wrap="square" lIns="0" tIns="0" rIns="0" bIns="0" rtlCol="0" anchor="ctr"/>
          <a:lstStyle/>
          <a:p>
            <a:pPr algn="ctr" indent="0" marL="0">
              <a:buNone/>
            </a:pPr>
            <a:r>
              <a:rPr lang="en-US" sz="1500" b="1" dirty="0">
                <a:solidFill>
                  <a:srgbClr val="141B4D"/>
                </a:solidFill>
                <a:latin typeface="Cambria" pitchFamily="34" charset="0"/>
                <a:ea typeface="Cambria" pitchFamily="34" charset="-122"/>
                <a:cs typeface="Cambria" pitchFamily="34" charset="-120"/>
              </a:rPr>
              <a:t>!</a:t>
            </a:r>
            <a:endParaRPr lang="en-US" sz="1500" dirty="0"/>
          </a:p>
        </p:txBody>
      </p:sp>
      <p:sp>
        <p:nvSpPr>
          <p:cNvPr id="8" name="Text 5"/>
          <p:cNvSpPr/>
          <p:nvPr/>
        </p:nvSpPr>
        <p:spPr>
          <a:xfrm>
            <a:off x="1417320" y="1417320"/>
            <a:ext cx="9875520" cy="914400"/>
          </a:xfrm>
          <a:prstGeom prst="rect">
            <a:avLst/>
          </a:prstGeom>
          <a:noFill/>
          <a:ln/>
        </p:spPr>
        <p:txBody>
          <a:bodyPr wrap="square" lIns="0" tIns="0" rIns="0" bIns="0" rtlCol="0" anchor="ctr"/>
          <a:lstStyle/>
          <a:p>
            <a:pPr indent="0" marL="0">
              <a:lnSpc>
                <a:spcPct val="108000"/>
              </a:lnSpc>
              <a:buNone/>
            </a:pPr>
            <a:r>
              <a:rPr lang="en-US" sz="1250" dirty="0">
                <a:solidFill>
                  <a:srgbClr val="333333"/>
                </a:solidFill>
                <a:latin typeface="Calibri" pitchFamily="34" charset="0"/>
                <a:ea typeface="Calibri" pitchFamily="34" charset="-122"/>
                <a:cs typeface="Calibri" pitchFamily="34" charset="-120"/>
              </a:rPr>
              <a:t>Voice-activated, hands-free start while driving requires native app capabilities. A web-based app cannot reliably do this, which affects the platform decision regardless of budget.</a:t>
            </a:r>
            <a:endParaRPr lang="en-US" sz="1250" dirty="0"/>
          </a:p>
        </p:txBody>
      </p:sp>
      <p:sp>
        <p:nvSpPr>
          <p:cNvPr id="9" name="Shape 6"/>
          <p:cNvSpPr/>
          <p:nvPr/>
        </p:nvSpPr>
        <p:spPr>
          <a:xfrm>
            <a:off x="640080" y="2468880"/>
            <a:ext cx="10881360" cy="914400"/>
          </a:xfrm>
          <a:prstGeom prst="roundRect">
            <a:avLst>
              <a:gd name="adj" fmla="val 8000"/>
            </a:avLst>
          </a:prstGeom>
          <a:solidFill>
            <a:srgbClr val="F4F6FB"/>
          </a:solidFill>
          <a:ln w="9525">
            <a:solidFill>
              <a:srgbClr val="DCE3F0"/>
            </a:solidFill>
            <a:prstDash val="solid"/>
          </a:ln>
        </p:spPr>
      </p:sp>
      <p:sp>
        <p:nvSpPr>
          <p:cNvPr id="10" name="Shape 7"/>
          <p:cNvSpPr/>
          <p:nvPr/>
        </p:nvSpPr>
        <p:spPr>
          <a:xfrm>
            <a:off x="896112" y="2761488"/>
            <a:ext cx="329184" cy="329184"/>
          </a:xfrm>
          <a:prstGeom prst="ellipse">
            <a:avLst/>
          </a:prstGeom>
          <a:solidFill>
            <a:srgbClr val="C9A227"/>
          </a:solidFill>
          <a:ln/>
        </p:spPr>
      </p:sp>
      <p:sp>
        <p:nvSpPr>
          <p:cNvPr id="11" name="Text 8"/>
          <p:cNvSpPr/>
          <p:nvPr/>
        </p:nvSpPr>
        <p:spPr>
          <a:xfrm>
            <a:off x="896112" y="2761488"/>
            <a:ext cx="329184" cy="329184"/>
          </a:xfrm>
          <a:prstGeom prst="rect">
            <a:avLst/>
          </a:prstGeom>
          <a:noFill/>
          <a:ln/>
        </p:spPr>
        <p:txBody>
          <a:bodyPr wrap="square" lIns="0" tIns="0" rIns="0" bIns="0" rtlCol="0" anchor="ctr"/>
          <a:lstStyle/>
          <a:p>
            <a:pPr algn="ctr" indent="0" marL="0">
              <a:buNone/>
            </a:pPr>
            <a:r>
              <a:rPr lang="en-US" sz="1500" b="1" dirty="0">
                <a:solidFill>
                  <a:srgbClr val="141B4D"/>
                </a:solidFill>
                <a:latin typeface="Cambria" pitchFamily="34" charset="0"/>
                <a:ea typeface="Cambria" pitchFamily="34" charset="-122"/>
                <a:cs typeface="Cambria" pitchFamily="34" charset="-120"/>
              </a:rPr>
              <a:t>!</a:t>
            </a:r>
            <a:endParaRPr lang="en-US" sz="1500" dirty="0"/>
          </a:p>
        </p:txBody>
      </p:sp>
      <p:sp>
        <p:nvSpPr>
          <p:cNvPr id="12" name="Text 9"/>
          <p:cNvSpPr/>
          <p:nvPr/>
        </p:nvSpPr>
        <p:spPr>
          <a:xfrm>
            <a:off x="1417320" y="2468880"/>
            <a:ext cx="9875520" cy="914400"/>
          </a:xfrm>
          <a:prstGeom prst="rect">
            <a:avLst/>
          </a:prstGeom>
          <a:noFill/>
          <a:ln/>
        </p:spPr>
        <p:txBody>
          <a:bodyPr wrap="square" lIns="0" tIns="0" rIns="0" bIns="0" rtlCol="0" anchor="ctr"/>
          <a:lstStyle/>
          <a:p>
            <a:pPr indent="0" marL="0">
              <a:lnSpc>
                <a:spcPct val="108000"/>
              </a:lnSpc>
              <a:buNone/>
            </a:pPr>
            <a:r>
              <a:rPr lang="en-US" sz="1250" dirty="0">
                <a:solidFill>
                  <a:srgbClr val="333333"/>
                </a:solidFill>
                <a:latin typeface="Calibri" pitchFamily="34" charset="0"/>
                <a:ea typeface="Calibri" pitchFamily="34" charset="-122"/>
                <a:cs typeface="Calibri" pitchFamily="34" charset="-120"/>
              </a:rPr>
              <a:t>Tracking schema usage as a proxy for rep diligence can undermine the "this helps me" framing, unless it is communicated transparently from the start.</a:t>
            </a:r>
            <a:endParaRPr lang="en-US" sz="1250" dirty="0"/>
          </a:p>
        </p:txBody>
      </p:sp>
      <p:sp>
        <p:nvSpPr>
          <p:cNvPr id="13" name="Shape 10"/>
          <p:cNvSpPr/>
          <p:nvPr/>
        </p:nvSpPr>
        <p:spPr>
          <a:xfrm>
            <a:off x="640080" y="3520440"/>
            <a:ext cx="10881360" cy="914400"/>
          </a:xfrm>
          <a:prstGeom prst="roundRect">
            <a:avLst>
              <a:gd name="adj" fmla="val 8000"/>
            </a:avLst>
          </a:prstGeom>
          <a:solidFill>
            <a:srgbClr val="F4F6FB"/>
          </a:solidFill>
          <a:ln w="9525">
            <a:solidFill>
              <a:srgbClr val="DCE3F0"/>
            </a:solidFill>
            <a:prstDash val="solid"/>
          </a:ln>
        </p:spPr>
      </p:sp>
      <p:sp>
        <p:nvSpPr>
          <p:cNvPr id="14" name="Shape 11"/>
          <p:cNvSpPr/>
          <p:nvPr/>
        </p:nvSpPr>
        <p:spPr>
          <a:xfrm>
            <a:off x="896112" y="3813048"/>
            <a:ext cx="329184" cy="329184"/>
          </a:xfrm>
          <a:prstGeom prst="ellipse">
            <a:avLst/>
          </a:prstGeom>
          <a:solidFill>
            <a:srgbClr val="C9A227"/>
          </a:solidFill>
          <a:ln/>
        </p:spPr>
      </p:sp>
      <p:sp>
        <p:nvSpPr>
          <p:cNvPr id="15" name="Text 12"/>
          <p:cNvSpPr/>
          <p:nvPr/>
        </p:nvSpPr>
        <p:spPr>
          <a:xfrm>
            <a:off x="896112" y="3813048"/>
            <a:ext cx="329184" cy="329184"/>
          </a:xfrm>
          <a:prstGeom prst="rect">
            <a:avLst/>
          </a:prstGeom>
          <a:noFill/>
          <a:ln/>
        </p:spPr>
        <p:txBody>
          <a:bodyPr wrap="square" lIns="0" tIns="0" rIns="0" bIns="0" rtlCol="0" anchor="ctr"/>
          <a:lstStyle/>
          <a:p>
            <a:pPr algn="ctr" indent="0" marL="0">
              <a:buNone/>
            </a:pPr>
            <a:r>
              <a:rPr lang="en-US" sz="1500" b="1" dirty="0">
                <a:solidFill>
                  <a:srgbClr val="141B4D"/>
                </a:solidFill>
                <a:latin typeface="Cambria" pitchFamily="34" charset="0"/>
                <a:ea typeface="Cambria" pitchFamily="34" charset="-122"/>
                <a:cs typeface="Cambria" pitchFamily="34" charset="-120"/>
              </a:rPr>
              <a:t>!</a:t>
            </a:r>
            <a:endParaRPr lang="en-US" sz="1500" dirty="0"/>
          </a:p>
        </p:txBody>
      </p:sp>
      <p:sp>
        <p:nvSpPr>
          <p:cNvPr id="16" name="Text 13"/>
          <p:cNvSpPr/>
          <p:nvPr/>
        </p:nvSpPr>
        <p:spPr>
          <a:xfrm>
            <a:off x="1417320" y="3520440"/>
            <a:ext cx="9875520" cy="914400"/>
          </a:xfrm>
          <a:prstGeom prst="rect">
            <a:avLst/>
          </a:prstGeom>
          <a:noFill/>
          <a:ln/>
        </p:spPr>
        <p:txBody>
          <a:bodyPr wrap="square" lIns="0" tIns="0" rIns="0" bIns="0" rtlCol="0" anchor="ctr"/>
          <a:lstStyle/>
          <a:p>
            <a:pPr indent="0" marL="0">
              <a:lnSpc>
                <a:spcPct val="108000"/>
              </a:lnSpc>
              <a:buNone/>
            </a:pPr>
            <a:r>
              <a:rPr lang="en-US" sz="1250" dirty="0">
                <a:solidFill>
                  <a:srgbClr val="333333"/>
                </a:solidFill>
                <a:latin typeface="Calibri" pitchFamily="34" charset="0"/>
                <a:ea typeface="Calibri" pitchFamily="34" charset="-122"/>
                <a:cs typeface="Calibri" pitchFamily="34" charset="-120"/>
              </a:rPr>
              <a:t>Allowing reps to define fully custom schemas would undermine cross-rep and cross-meeting comparability. A managed, sales-management-approved template library is recommended instead.</a:t>
            </a:r>
            <a:endParaRPr lang="en-US" sz="1250" dirty="0"/>
          </a:p>
        </p:txBody>
      </p:sp>
      <p:sp>
        <p:nvSpPr>
          <p:cNvPr id="17" name="Shape 14"/>
          <p:cNvSpPr/>
          <p:nvPr/>
        </p:nvSpPr>
        <p:spPr>
          <a:xfrm>
            <a:off x="640080" y="4572000"/>
            <a:ext cx="10881360" cy="914400"/>
          </a:xfrm>
          <a:prstGeom prst="roundRect">
            <a:avLst>
              <a:gd name="adj" fmla="val 8000"/>
            </a:avLst>
          </a:prstGeom>
          <a:solidFill>
            <a:srgbClr val="F4F6FB"/>
          </a:solidFill>
          <a:ln w="9525">
            <a:solidFill>
              <a:srgbClr val="DCE3F0"/>
            </a:solidFill>
            <a:prstDash val="solid"/>
          </a:ln>
        </p:spPr>
      </p:sp>
      <p:sp>
        <p:nvSpPr>
          <p:cNvPr id="18" name="Shape 15"/>
          <p:cNvSpPr/>
          <p:nvPr/>
        </p:nvSpPr>
        <p:spPr>
          <a:xfrm>
            <a:off x="896112" y="4864608"/>
            <a:ext cx="329184" cy="329184"/>
          </a:xfrm>
          <a:prstGeom prst="ellipse">
            <a:avLst/>
          </a:prstGeom>
          <a:solidFill>
            <a:srgbClr val="C9A227"/>
          </a:solidFill>
          <a:ln/>
        </p:spPr>
      </p:sp>
      <p:sp>
        <p:nvSpPr>
          <p:cNvPr id="19" name="Text 16"/>
          <p:cNvSpPr/>
          <p:nvPr/>
        </p:nvSpPr>
        <p:spPr>
          <a:xfrm>
            <a:off x="896112" y="4864608"/>
            <a:ext cx="329184" cy="329184"/>
          </a:xfrm>
          <a:prstGeom prst="rect">
            <a:avLst/>
          </a:prstGeom>
          <a:noFill/>
          <a:ln/>
        </p:spPr>
        <p:txBody>
          <a:bodyPr wrap="square" lIns="0" tIns="0" rIns="0" bIns="0" rtlCol="0" anchor="ctr"/>
          <a:lstStyle/>
          <a:p>
            <a:pPr algn="ctr" indent="0" marL="0">
              <a:buNone/>
            </a:pPr>
            <a:r>
              <a:rPr lang="en-US" sz="1500" b="1" dirty="0">
                <a:solidFill>
                  <a:srgbClr val="141B4D"/>
                </a:solidFill>
                <a:latin typeface="Cambria" pitchFamily="34" charset="0"/>
                <a:ea typeface="Cambria" pitchFamily="34" charset="-122"/>
                <a:cs typeface="Cambria" pitchFamily="34" charset="-120"/>
              </a:rPr>
              <a:t>!</a:t>
            </a:r>
            <a:endParaRPr lang="en-US" sz="1500" dirty="0"/>
          </a:p>
        </p:txBody>
      </p:sp>
      <p:sp>
        <p:nvSpPr>
          <p:cNvPr id="20" name="Text 17"/>
          <p:cNvSpPr/>
          <p:nvPr/>
        </p:nvSpPr>
        <p:spPr>
          <a:xfrm>
            <a:off x="1417320" y="4572000"/>
            <a:ext cx="9875520" cy="914400"/>
          </a:xfrm>
          <a:prstGeom prst="rect">
            <a:avLst/>
          </a:prstGeom>
          <a:noFill/>
          <a:ln/>
        </p:spPr>
        <p:txBody>
          <a:bodyPr wrap="square" lIns="0" tIns="0" rIns="0" bIns="0" rtlCol="0" anchor="ctr"/>
          <a:lstStyle/>
          <a:p>
            <a:pPr indent="0" marL="0">
              <a:lnSpc>
                <a:spcPct val="108000"/>
              </a:lnSpc>
              <a:buNone/>
            </a:pPr>
            <a:r>
              <a:rPr lang="en-US" sz="1250" dirty="0">
                <a:solidFill>
                  <a:srgbClr val="333333"/>
                </a:solidFill>
                <a:latin typeface="Calibri" pitchFamily="34" charset="0"/>
                <a:ea typeface="Calibri" pitchFamily="34" charset="-122"/>
                <a:cs typeface="Calibri" pitchFamily="34" charset="-120"/>
              </a:rPr>
              <a:t>This remains a concept without a confirmed business sponsor, budget, or pilot scope at this stage.</a:t>
            </a:r>
            <a:endParaRPr lang="en-US" sz="1250" dirty="0"/>
          </a:p>
        </p:txBody>
      </p:sp>
      <p:sp>
        <p:nvSpPr>
          <p:cNvPr id="21" name="Text 18"/>
          <p:cNvSpPr/>
          <p:nvPr/>
        </p:nvSpPr>
        <p:spPr>
          <a:xfrm>
            <a:off x="11521440" y="6446520"/>
            <a:ext cx="36576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ellipse">
            <a:avLst/>
          </a:prstGeom>
          <a:solidFill>
            <a:srgbClr val="1E2761"/>
          </a:solidFill>
          <a:ln/>
        </p:spPr>
      </p:sp>
      <p:pic>
        <p:nvPicPr>
          <p:cNvPr id="3" name="Image 0" descr="/home/claude/icons/FaListOl.png">    </p:cNvPr>
          <p:cNvPicPr>
            <a:picLocks noChangeAspect="1"/>
          </p:cNvPicPr>
          <p:nvPr/>
        </p:nvPicPr>
        <p:blipFill>
          <a:blip r:embed="rId1"/>
          <a:stretch>
            <a:fillRect/>
          </a:stretch>
        </p:blipFill>
        <p:spPr>
          <a:xfrm>
            <a:off x="576072" y="502920"/>
            <a:ext cx="237744" cy="237744"/>
          </a:xfrm>
          <a:prstGeom prst="rect">
            <a:avLst/>
          </a:prstGeom>
        </p:spPr>
      </p:pic>
      <p:sp>
        <p:nvSpPr>
          <p:cNvPr id="4" name="Text 1"/>
          <p:cNvSpPr/>
          <p:nvPr/>
        </p:nvSpPr>
        <p:spPr>
          <a:xfrm>
            <a:off x="1051560" y="320040"/>
            <a:ext cx="10652760" cy="594360"/>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Path From Concept to Pilot</a:t>
            </a:r>
            <a:endParaRPr lang="en-US" sz="2800" dirty="0"/>
          </a:p>
        </p:txBody>
      </p:sp>
      <p:sp>
        <p:nvSpPr>
          <p:cNvPr id="5" name="Shape 2"/>
          <p:cNvSpPr/>
          <p:nvPr/>
        </p:nvSpPr>
        <p:spPr>
          <a:xfrm>
            <a:off x="548640" y="1463040"/>
            <a:ext cx="2606040" cy="3749040"/>
          </a:xfrm>
          <a:prstGeom prst="roundRect">
            <a:avLst>
              <a:gd name="adj" fmla="val 2807"/>
            </a:avLst>
          </a:prstGeom>
          <a:solidFill>
            <a:srgbClr val="F4F6FB"/>
          </a:solidFill>
          <a:ln w="9525">
            <a:solidFill>
              <a:srgbClr val="DCE3F0"/>
            </a:solidFill>
            <a:prstDash val="solid"/>
          </a:ln>
          <a:effectLst>
            <a:outerShdw sx="100000" sy="100000" kx="0" ky="0" algn="bl" rotWithShape="0" blurRad="76200" dist="25400" dir="5400000">
              <a:srgbClr val="1E2761">
                <a:alpha val="12000"/>
              </a:srgbClr>
            </a:outerShdw>
          </a:effectLst>
        </p:spPr>
      </p:sp>
      <p:sp>
        <p:nvSpPr>
          <p:cNvPr id="6" name="Shape 3"/>
          <p:cNvSpPr/>
          <p:nvPr/>
        </p:nvSpPr>
        <p:spPr>
          <a:xfrm>
            <a:off x="1440180" y="1783080"/>
            <a:ext cx="822960" cy="822960"/>
          </a:xfrm>
          <a:prstGeom prst="ellipse">
            <a:avLst/>
          </a:prstGeom>
          <a:solidFill>
            <a:srgbClr val="1E2761"/>
          </a:solidFill>
          <a:ln/>
        </p:spPr>
      </p:sp>
      <p:sp>
        <p:nvSpPr>
          <p:cNvPr id="7" name="Text 4"/>
          <p:cNvSpPr/>
          <p:nvPr/>
        </p:nvSpPr>
        <p:spPr>
          <a:xfrm>
            <a:off x="1440180" y="1783080"/>
            <a:ext cx="822960" cy="822960"/>
          </a:xfrm>
          <a:prstGeom prst="rect">
            <a:avLst/>
          </a:prstGeom>
          <a:noFill/>
          <a:ln/>
        </p:spPr>
        <p:txBody>
          <a:bodyPr wrap="square" lIns="0" tIns="0" rIns="0" bIns="0" rtlCol="0" anchor="ctr"/>
          <a:lstStyle/>
          <a:p>
            <a:pPr algn="ctr" indent="0" marL="0">
              <a:buNone/>
            </a:pPr>
            <a:r>
              <a:rPr lang="en-US" sz="1200" b="1" dirty="0">
                <a:solidFill>
                  <a:srgbClr val="C9A227"/>
                </a:solidFill>
                <a:latin typeface="Cambria" pitchFamily="34" charset="0"/>
                <a:ea typeface="Cambria" pitchFamily="34" charset="-122"/>
                <a:cs typeface="Cambria" pitchFamily="34" charset="-120"/>
              </a:rPr>
              <a:t>Phase 0</a:t>
            </a:r>
            <a:endParaRPr lang="en-US" sz="1200" dirty="0"/>
          </a:p>
        </p:txBody>
      </p:sp>
      <p:sp>
        <p:nvSpPr>
          <p:cNvPr id="8" name="Text 5"/>
          <p:cNvSpPr/>
          <p:nvPr/>
        </p:nvSpPr>
        <p:spPr>
          <a:xfrm>
            <a:off x="731520" y="2743200"/>
            <a:ext cx="2240280" cy="548640"/>
          </a:xfrm>
          <a:prstGeom prst="rect">
            <a:avLst/>
          </a:prstGeom>
          <a:noFill/>
          <a:ln/>
        </p:spPr>
        <p:txBody>
          <a:bodyPr wrap="square" lIns="0" tIns="0" rIns="0" bIns="0" rtlCol="0" anchor="t"/>
          <a:lstStyle/>
          <a:p>
            <a:pPr algn="ctr" indent="0" marL="0">
              <a:buNone/>
            </a:pPr>
            <a:r>
              <a:rPr lang="en-US" sz="1300" b="1" dirty="0">
                <a:solidFill>
                  <a:srgbClr val="1E2761"/>
                </a:solidFill>
                <a:latin typeface="Cambria" pitchFamily="34" charset="0"/>
                <a:ea typeface="Cambria" pitchFamily="34" charset="-122"/>
                <a:cs typeface="Cambria" pitchFamily="34" charset="-120"/>
              </a:rPr>
              <a:t>Concept Validation</a:t>
            </a:r>
            <a:endParaRPr lang="en-US" sz="1300" dirty="0"/>
          </a:p>
        </p:txBody>
      </p:sp>
      <p:sp>
        <p:nvSpPr>
          <p:cNvPr id="9" name="Text 6"/>
          <p:cNvSpPr/>
          <p:nvPr/>
        </p:nvSpPr>
        <p:spPr>
          <a:xfrm>
            <a:off x="777240" y="3337560"/>
            <a:ext cx="2148840" cy="1737360"/>
          </a:xfrm>
          <a:prstGeom prst="rect">
            <a:avLst/>
          </a:prstGeom>
          <a:noFill/>
          <a:ln/>
        </p:spPr>
        <p:txBody>
          <a:bodyPr wrap="square" lIns="0" tIns="0" rIns="0" bIns="0" rtlCol="0" anchor="t"/>
          <a:lstStyle/>
          <a:p>
            <a:pPr algn="l" indent="0" marL="0">
              <a:lnSpc>
                <a:spcPct val="112000"/>
              </a:lnSpc>
              <a:buNone/>
            </a:pPr>
            <a:r>
              <a:rPr lang="en-US" sz="1050" dirty="0">
                <a:solidFill>
                  <a:srgbClr val="333333"/>
                </a:solidFill>
                <a:latin typeface="Calibri" pitchFamily="34" charset="0"/>
                <a:ea typeface="Calibri" pitchFamily="34" charset="-122"/>
                <a:cs typeface="Calibri" pitchFamily="34" charset="-120"/>
              </a:rPr>
              <a:t>Discuss this proposal with sales colleagues and management. Confirm business sponsorship.</a:t>
            </a:r>
            <a:endParaRPr lang="en-US" sz="1050" dirty="0"/>
          </a:p>
        </p:txBody>
      </p:sp>
      <p:sp>
        <p:nvSpPr>
          <p:cNvPr id="10" name="Shape 7"/>
          <p:cNvSpPr/>
          <p:nvPr/>
        </p:nvSpPr>
        <p:spPr>
          <a:xfrm>
            <a:off x="3168396" y="2779776"/>
            <a:ext cx="201168" cy="201168"/>
          </a:xfrm>
          <a:prstGeom prst="chevron">
            <a:avLst/>
          </a:prstGeom>
          <a:solidFill>
            <a:srgbClr val="C9A227"/>
          </a:solidFill>
          <a:ln/>
        </p:spPr>
      </p:sp>
      <p:sp>
        <p:nvSpPr>
          <p:cNvPr id="11" name="Shape 8"/>
          <p:cNvSpPr/>
          <p:nvPr/>
        </p:nvSpPr>
        <p:spPr>
          <a:xfrm>
            <a:off x="3383280" y="1463040"/>
            <a:ext cx="2606040" cy="3749040"/>
          </a:xfrm>
          <a:prstGeom prst="roundRect">
            <a:avLst>
              <a:gd name="adj" fmla="val 2807"/>
            </a:avLst>
          </a:prstGeom>
          <a:solidFill>
            <a:srgbClr val="F4F6FB"/>
          </a:solidFill>
          <a:ln w="9525">
            <a:solidFill>
              <a:srgbClr val="DCE3F0"/>
            </a:solidFill>
            <a:prstDash val="solid"/>
          </a:ln>
          <a:effectLst>
            <a:outerShdw sx="100000" sy="100000" kx="0" ky="0" algn="bl" rotWithShape="0" blurRad="76200" dist="25400" dir="5400000">
              <a:srgbClr val="1E2761">
                <a:alpha val="12000"/>
              </a:srgbClr>
            </a:outerShdw>
          </a:effectLst>
        </p:spPr>
      </p:sp>
      <p:sp>
        <p:nvSpPr>
          <p:cNvPr id="12" name="Shape 9"/>
          <p:cNvSpPr/>
          <p:nvPr/>
        </p:nvSpPr>
        <p:spPr>
          <a:xfrm>
            <a:off x="4274820" y="1783080"/>
            <a:ext cx="822960" cy="822960"/>
          </a:xfrm>
          <a:prstGeom prst="ellipse">
            <a:avLst/>
          </a:prstGeom>
          <a:solidFill>
            <a:srgbClr val="1E2761"/>
          </a:solidFill>
          <a:ln/>
        </p:spPr>
      </p:sp>
      <p:sp>
        <p:nvSpPr>
          <p:cNvPr id="13" name="Text 10"/>
          <p:cNvSpPr/>
          <p:nvPr/>
        </p:nvSpPr>
        <p:spPr>
          <a:xfrm>
            <a:off x="4274820" y="1783080"/>
            <a:ext cx="822960" cy="822960"/>
          </a:xfrm>
          <a:prstGeom prst="rect">
            <a:avLst/>
          </a:prstGeom>
          <a:noFill/>
          <a:ln/>
        </p:spPr>
        <p:txBody>
          <a:bodyPr wrap="square" lIns="0" tIns="0" rIns="0" bIns="0" rtlCol="0" anchor="ctr"/>
          <a:lstStyle/>
          <a:p>
            <a:pPr algn="ctr" indent="0" marL="0">
              <a:buNone/>
            </a:pPr>
            <a:r>
              <a:rPr lang="en-US" sz="1200" b="1" dirty="0">
                <a:solidFill>
                  <a:srgbClr val="C9A227"/>
                </a:solidFill>
                <a:latin typeface="Cambria" pitchFamily="34" charset="0"/>
                <a:ea typeface="Cambria" pitchFamily="34" charset="-122"/>
                <a:cs typeface="Cambria" pitchFamily="34" charset="-120"/>
              </a:rPr>
              <a:t>Phase 1</a:t>
            </a:r>
            <a:endParaRPr lang="en-US" sz="1200" dirty="0"/>
          </a:p>
        </p:txBody>
      </p:sp>
      <p:sp>
        <p:nvSpPr>
          <p:cNvPr id="14" name="Text 11"/>
          <p:cNvSpPr/>
          <p:nvPr/>
        </p:nvSpPr>
        <p:spPr>
          <a:xfrm>
            <a:off x="3566160" y="2743200"/>
            <a:ext cx="2240280" cy="548640"/>
          </a:xfrm>
          <a:prstGeom prst="rect">
            <a:avLst/>
          </a:prstGeom>
          <a:noFill/>
          <a:ln/>
        </p:spPr>
        <p:txBody>
          <a:bodyPr wrap="square" lIns="0" tIns="0" rIns="0" bIns="0" rtlCol="0" anchor="t"/>
          <a:lstStyle/>
          <a:p>
            <a:pPr algn="ctr" indent="0" marL="0">
              <a:buNone/>
            </a:pPr>
            <a:r>
              <a:rPr lang="en-US" sz="1300" b="1" dirty="0">
                <a:solidFill>
                  <a:srgbClr val="1E2761"/>
                </a:solidFill>
                <a:latin typeface="Cambria" pitchFamily="34" charset="0"/>
                <a:ea typeface="Cambria" pitchFamily="34" charset="-122"/>
                <a:cs typeface="Cambria" pitchFamily="34" charset="-120"/>
              </a:rPr>
              <a:t>Scoped Pilot</a:t>
            </a:r>
            <a:endParaRPr lang="en-US" sz="1300" dirty="0"/>
          </a:p>
        </p:txBody>
      </p:sp>
      <p:sp>
        <p:nvSpPr>
          <p:cNvPr id="15" name="Text 12"/>
          <p:cNvSpPr/>
          <p:nvPr/>
        </p:nvSpPr>
        <p:spPr>
          <a:xfrm>
            <a:off x="3611880" y="3337560"/>
            <a:ext cx="2148840" cy="1737360"/>
          </a:xfrm>
          <a:prstGeom prst="rect">
            <a:avLst/>
          </a:prstGeom>
          <a:noFill/>
          <a:ln/>
        </p:spPr>
        <p:txBody>
          <a:bodyPr wrap="square" lIns="0" tIns="0" rIns="0" bIns="0" rtlCol="0" anchor="t"/>
          <a:lstStyle/>
          <a:p>
            <a:pPr algn="l" indent="0" marL="0">
              <a:lnSpc>
                <a:spcPct val="112000"/>
              </a:lnSpc>
              <a:buNone/>
            </a:pPr>
            <a:r>
              <a:rPr lang="en-US" sz="1050" dirty="0">
                <a:solidFill>
                  <a:srgbClr val="333333"/>
                </a:solidFill>
                <a:latin typeface="Calibri" pitchFamily="34" charset="0"/>
                <a:ea typeface="Calibri" pitchFamily="34" charset="-122"/>
                <a:cs typeface="Calibri" pitchFamily="34" charset="-120"/>
              </a:rPr>
              <a:t>Small rep group, managed devices, native app, staged storage only. No live CRM write.</a:t>
            </a:r>
            <a:endParaRPr lang="en-US" sz="1050" dirty="0"/>
          </a:p>
        </p:txBody>
      </p:sp>
      <p:sp>
        <p:nvSpPr>
          <p:cNvPr id="16" name="Shape 13"/>
          <p:cNvSpPr/>
          <p:nvPr/>
        </p:nvSpPr>
        <p:spPr>
          <a:xfrm>
            <a:off x="6003036" y="2779776"/>
            <a:ext cx="201168" cy="201168"/>
          </a:xfrm>
          <a:prstGeom prst="chevron">
            <a:avLst/>
          </a:prstGeom>
          <a:solidFill>
            <a:srgbClr val="C9A227"/>
          </a:solidFill>
          <a:ln/>
        </p:spPr>
      </p:sp>
      <p:sp>
        <p:nvSpPr>
          <p:cNvPr id="17" name="Shape 14"/>
          <p:cNvSpPr/>
          <p:nvPr/>
        </p:nvSpPr>
        <p:spPr>
          <a:xfrm>
            <a:off x="6217920" y="1463040"/>
            <a:ext cx="2606040" cy="3749040"/>
          </a:xfrm>
          <a:prstGeom prst="roundRect">
            <a:avLst>
              <a:gd name="adj" fmla="val 2807"/>
            </a:avLst>
          </a:prstGeom>
          <a:solidFill>
            <a:srgbClr val="F4F6FB"/>
          </a:solidFill>
          <a:ln w="9525">
            <a:solidFill>
              <a:srgbClr val="DCE3F0"/>
            </a:solidFill>
            <a:prstDash val="solid"/>
          </a:ln>
          <a:effectLst>
            <a:outerShdw sx="100000" sy="100000" kx="0" ky="0" algn="bl" rotWithShape="0" blurRad="76200" dist="25400" dir="5400000">
              <a:srgbClr val="1E2761">
                <a:alpha val="12000"/>
              </a:srgbClr>
            </a:outerShdw>
          </a:effectLst>
        </p:spPr>
      </p:sp>
      <p:sp>
        <p:nvSpPr>
          <p:cNvPr id="18" name="Shape 15"/>
          <p:cNvSpPr/>
          <p:nvPr/>
        </p:nvSpPr>
        <p:spPr>
          <a:xfrm>
            <a:off x="7109460" y="1783080"/>
            <a:ext cx="822960" cy="822960"/>
          </a:xfrm>
          <a:prstGeom prst="ellipse">
            <a:avLst/>
          </a:prstGeom>
          <a:solidFill>
            <a:srgbClr val="1E2761"/>
          </a:solidFill>
          <a:ln/>
        </p:spPr>
      </p:sp>
      <p:sp>
        <p:nvSpPr>
          <p:cNvPr id="19" name="Text 16"/>
          <p:cNvSpPr/>
          <p:nvPr/>
        </p:nvSpPr>
        <p:spPr>
          <a:xfrm>
            <a:off x="7109460" y="1783080"/>
            <a:ext cx="822960" cy="822960"/>
          </a:xfrm>
          <a:prstGeom prst="rect">
            <a:avLst/>
          </a:prstGeom>
          <a:noFill/>
          <a:ln/>
        </p:spPr>
        <p:txBody>
          <a:bodyPr wrap="square" lIns="0" tIns="0" rIns="0" bIns="0" rtlCol="0" anchor="ctr"/>
          <a:lstStyle/>
          <a:p>
            <a:pPr algn="ctr" indent="0" marL="0">
              <a:buNone/>
            </a:pPr>
            <a:r>
              <a:rPr lang="en-US" sz="1200" b="1" dirty="0">
                <a:solidFill>
                  <a:srgbClr val="C9A227"/>
                </a:solidFill>
                <a:latin typeface="Cambria" pitchFamily="34" charset="0"/>
                <a:ea typeface="Cambria" pitchFamily="34" charset="-122"/>
                <a:cs typeface="Cambria" pitchFamily="34" charset="-120"/>
              </a:rPr>
              <a:t>Phase 2</a:t>
            </a:r>
            <a:endParaRPr lang="en-US" sz="1200" dirty="0"/>
          </a:p>
        </p:txBody>
      </p:sp>
      <p:sp>
        <p:nvSpPr>
          <p:cNvPr id="20" name="Text 17"/>
          <p:cNvSpPr/>
          <p:nvPr/>
        </p:nvSpPr>
        <p:spPr>
          <a:xfrm>
            <a:off x="6400800" y="2743200"/>
            <a:ext cx="2240280" cy="548640"/>
          </a:xfrm>
          <a:prstGeom prst="rect">
            <a:avLst/>
          </a:prstGeom>
          <a:noFill/>
          <a:ln/>
        </p:spPr>
        <p:txBody>
          <a:bodyPr wrap="square" lIns="0" tIns="0" rIns="0" bIns="0" rtlCol="0" anchor="t"/>
          <a:lstStyle/>
          <a:p>
            <a:pPr algn="ctr" indent="0" marL="0">
              <a:buNone/>
            </a:pPr>
            <a:r>
              <a:rPr lang="en-US" sz="1300" b="1" dirty="0">
                <a:solidFill>
                  <a:srgbClr val="1E2761"/>
                </a:solidFill>
                <a:latin typeface="Cambria" pitchFamily="34" charset="0"/>
                <a:ea typeface="Cambria" pitchFamily="34" charset="-122"/>
                <a:cs typeface="Cambria" pitchFamily="34" charset="-120"/>
              </a:rPr>
              <a:t>Governance Formalization</a:t>
            </a:r>
            <a:endParaRPr lang="en-US" sz="1300" dirty="0"/>
          </a:p>
        </p:txBody>
      </p:sp>
      <p:sp>
        <p:nvSpPr>
          <p:cNvPr id="21" name="Text 18"/>
          <p:cNvSpPr/>
          <p:nvPr/>
        </p:nvSpPr>
        <p:spPr>
          <a:xfrm>
            <a:off x="6446520" y="3337560"/>
            <a:ext cx="2148840" cy="1737360"/>
          </a:xfrm>
          <a:prstGeom prst="rect">
            <a:avLst/>
          </a:prstGeom>
          <a:noFill/>
          <a:ln/>
        </p:spPr>
        <p:txBody>
          <a:bodyPr wrap="square" lIns="0" tIns="0" rIns="0" bIns="0" rtlCol="0" anchor="t"/>
          <a:lstStyle/>
          <a:p>
            <a:pPr algn="l" indent="0" marL="0">
              <a:lnSpc>
                <a:spcPct val="112000"/>
              </a:lnSpc>
              <a:buNone/>
            </a:pPr>
            <a:r>
              <a:rPr lang="en-US" sz="1050" dirty="0">
                <a:solidFill>
                  <a:srgbClr val="333333"/>
                </a:solidFill>
                <a:latin typeface="Calibri" pitchFamily="34" charset="0"/>
                <a:ea typeface="Calibri" pitchFamily="34" charset="-122"/>
                <a:cs typeface="Calibri" pitchFamily="34" charset="-120"/>
              </a:rPr>
              <a:t>Confirm schema ownership, retention policy, and Conditional Access rules with IT security.</a:t>
            </a:r>
            <a:endParaRPr lang="en-US" sz="1050" dirty="0"/>
          </a:p>
        </p:txBody>
      </p:sp>
      <p:sp>
        <p:nvSpPr>
          <p:cNvPr id="22" name="Shape 19"/>
          <p:cNvSpPr/>
          <p:nvPr/>
        </p:nvSpPr>
        <p:spPr>
          <a:xfrm>
            <a:off x="8837676" y="2779776"/>
            <a:ext cx="201168" cy="201168"/>
          </a:xfrm>
          <a:prstGeom prst="chevron">
            <a:avLst/>
          </a:prstGeom>
          <a:solidFill>
            <a:srgbClr val="C9A227"/>
          </a:solidFill>
          <a:ln/>
        </p:spPr>
      </p:sp>
      <p:sp>
        <p:nvSpPr>
          <p:cNvPr id="23" name="Shape 20"/>
          <p:cNvSpPr/>
          <p:nvPr/>
        </p:nvSpPr>
        <p:spPr>
          <a:xfrm>
            <a:off x="9052560" y="1463040"/>
            <a:ext cx="2606040" cy="3749040"/>
          </a:xfrm>
          <a:prstGeom prst="roundRect">
            <a:avLst>
              <a:gd name="adj" fmla="val 2807"/>
            </a:avLst>
          </a:prstGeom>
          <a:solidFill>
            <a:srgbClr val="F4F6FB"/>
          </a:solidFill>
          <a:ln w="9525">
            <a:solidFill>
              <a:srgbClr val="DCE3F0"/>
            </a:solidFill>
            <a:prstDash val="solid"/>
          </a:ln>
          <a:effectLst>
            <a:outerShdw sx="100000" sy="100000" kx="0" ky="0" algn="bl" rotWithShape="0" blurRad="76200" dist="25400" dir="5400000">
              <a:srgbClr val="1E2761">
                <a:alpha val="12000"/>
              </a:srgbClr>
            </a:outerShdw>
          </a:effectLst>
        </p:spPr>
      </p:sp>
      <p:sp>
        <p:nvSpPr>
          <p:cNvPr id="24" name="Shape 21"/>
          <p:cNvSpPr/>
          <p:nvPr/>
        </p:nvSpPr>
        <p:spPr>
          <a:xfrm>
            <a:off x="9944100" y="1783080"/>
            <a:ext cx="822960" cy="822960"/>
          </a:xfrm>
          <a:prstGeom prst="ellipse">
            <a:avLst/>
          </a:prstGeom>
          <a:solidFill>
            <a:srgbClr val="1E2761"/>
          </a:solidFill>
          <a:ln/>
        </p:spPr>
      </p:sp>
      <p:sp>
        <p:nvSpPr>
          <p:cNvPr id="25" name="Text 22"/>
          <p:cNvSpPr/>
          <p:nvPr/>
        </p:nvSpPr>
        <p:spPr>
          <a:xfrm>
            <a:off x="9944100" y="1783080"/>
            <a:ext cx="822960" cy="822960"/>
          </a:xfrm>
          <a:prstGeom prst="rect">
            <a:avLst/>
          </a:prstGeom>
          <a:noFill/>
          <a:ln/>
        </p:spPr>
        <p:txBody>
          <a:bodyPr wrap="square" lIns="0" tIns="0" rIns="0" bIns="0" rtlCol="0" anchor="ctr"/>
          <a:lstStyle/>
          <a:p>
            <a:pPr algn="ctr" indent="0" marL="0">
              <a:buNone/>
            </a:pPr>
            <a:r>
              <a:rPr lang="en-US" sz="1200" b="1" dirty="0">
                <a:solidFill>
                  <a:srgbClr val="C9A227"/>
                </a:solidFill>
                <a:latin typeface="Cambria" pitchFamily="34" charset="0"/>
                <a:ea typeface="Cambria" pitchFamily="34" charset="-122"/>
                <a:cs typeface="Cambria" pitchFamily="34" charset="-120"/>
              </a:rPr>
              <a:t>Phase 3</a:t>
            </a:r>
            <a:endParaRPr lang="en-US" sz="1200" dirty="0"/>
          </a:p>
        </p:txBody>
      </p:sp>
      <p:sp>
        <p:nvSpPr>
          <p:cNvPr id="26" name="Text 23"/>
          <p:cNvSpPr/>
          <p:nvPr/>
        </p:nvSpPr>
        <p:spPr>
          <a:xfrm>
            <a:off x="9235440" y="2743200"/>
            <a:ext cx="2240280" cy="548640"/>
          </a:xfrm>
          <a:prstGeom prst="rect">
            <a:avLst/>
          </a:prstGeom>
          <a:noFill/>
          <a:ln/>
        </p:spPr>
        <p:txBody>
          <a:bodyPr wrap="square" lIns="0" tIns="0" rIns="0" bIns="0" rtlCol="0" anchor="t"/>
          <a:lstStyle/>
          <a:p>
            <a:pPr algn="ctr" indent="0" marL="0">
              <a:buNone/>
            </a:pPr>
            <a:r>
              <a:rPr lang="en-US" sz="1300" b="1" dirty="0">
                <a:solidFill>
                  <a:srgbClr val="1E2761"/>
                </a:solidFill>
                <a:latin typeface="Cambria" pitchFamily="34" charset="0"/>
                <a:ea typeface="Cambria" pitchFamily="34" charset="-122"/>
                <a:cs typeface="Cambria" pitchFamily="34" charset="-120"/>
              </a:rPr>
              <a:t>Controlled Rollout</a:t>
            </a:r>
            <a:endParaRPr lang="en-US" sz="1300" dirty="0"/>
          </a:p>
        </p:txBody>
      </p:sp>
      <p:sp>
        <p:nvSpPr>
          <p:cNvPr id="27" name="Text 24"/>
          <p:cNvSpPr/>
          <p:nvPr/>
        </p:nvSpPr>
        <p:spPr>
          <a:xfrm>
            <a:off x="9281160" y="3337560"/>
            <a:ext cx="2148840" cy="1737360"/>
          </a:xfrm>
          <a:prstGeom prst="rect">
            <a:avLst/>
          </a:prstGeom>
          <a:noFill/>
          <a:ln/>
        </p:spPr>
        <p:txBody>
          <a:bodyPr wrap="square" lIns="0" tIns="0" rIns="0" bIns="0" rtlCol="0" anchor="t"/>
          <a:lstStyle/>
          <a:p>
            <a:pPr algn="l" indent="0" marL="0">
              <a:lnSpc>
                <a:spcPct val="112000"/>
              </a:lnSpc>
              <a:buNone/>
            </a:pPr>
            <a:r>
              <a:rPr lang="en-US" sz="1050" dirty="0">
                <a:solidFill>
                  <a:srgbClr val="333333"/>
                </a:solidFill>
                <a:latin typeface="Calibri" pitchFamily="34" charset="0"/>
                <a:ea typeface="Calibri" pitchFamily="34" charset="-122"/>
                <a:cs typeface="Calibri" pitchFamily="34" charset="-120"/>
              </a:rPr>
              <a:t>Governed CRM sync enabled. Usage extended based on pilot results.</a:t>
            </a:r>
            <a:endParaRPr lang="en-US" sz="1050" dirty="0"/>
          </a:p>
        </p:txBody>
      </p:sp>
      <p:sp>
        <p:nvSpPr>
          <p:cNvPr id="28" name="Text 25"/>
          <p:cNvSpPr/>
          <p:nvPr/>
        </p:nvSpPr>
        <p:spPr>
          <a:xfrm>
            <a:off x="11521440" y="6446520"/>
            <a:ext cx="36576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828800" y="-1828800"/>
            <a:ext cx="4114800" cy="4114800"/>
          </a:xfrm>
          <a:prstGeom prst="ellipse">
            <a:avLst/>
          </a:prstGeom>
          <a:solidFill>
            <a:srgbClr val="141B4D"/>
          </a:solidFill>
          <a:ln/>
        </p:spPr>
      </p:sp>
      <p:sp>
        <p:nvSpPr>
          <p:cNvPr id="3" name="Shape 1"/>
          <p:cNvSpPr/>
          <p:nvPr/>
        </p:nvSpPr>
        <p:spPr>
          <a:xfrm>
            <a:off x="5577840" y="1600200"/>
            <a:ext cx="1005840" cy="1005840"/>
          </a:xfrm>
          <a:prstGeom prst="ellipse">
            <a:avLst/>
          </a:prstGeom>
          <a:solidFill>
            <a:srgbClr val="141B4D"/>
          </a:solidFill>
          <a:ln/>
        </p:spPr>
      </p:sp>
      <p:pic>
        <p:nvPicPr>
          <p:cNvPr id="4" name="Image 0" descr="/home/claude/icons/FaHandshake.png">    </p:cNvPr>
          <p:cNvPicPr>
            <a:picLocks noChangeAspect="1"/>
          </p:cNvPicPr>
          <p:nvPr/>
        </p:nvPicPr>
        <p:blipFill>
          <a:blip r:embed="rId1"/>
          <a:stretch>
            <a:fillRect/>
          </a:stretch>
        </p:blipFill>
        <p:spPr>
          <a:xfrm>
            <a:off x="5819242" y="1841602"/>
            <a:ext cx="523037" cy="523037"/>
          </a:xfrm>
          <a:prstGeom prst="rect">
            <a:avLst/>
          </a:prstGeom>
        </p:spPr>
      </p:pic>
      <p:sp>
        <p:nvSpPr>
          <p:cNvPr id="5" name="Text 2"/>
          <p:cNvSpPr/>
          <p:nvPr/>
        </p:nvSpPr>
        <p:spPr>
          <a:xfrm>
            <a:off x="914400" y="3063240"/>
            <a:ext cx="10332720" cy="64008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For Discussion</a:t>
            </a:r>
            <a:endParaRPr lang="en-US" sz="3200" dirty="0"/>
          </a:p>
        </p:txBody>
      </p:sp>
      <p:sp>
        <p:nvSpPr>
          <p:cNvPr id="6" name="Text 3"/>
          <p:cNvSpPr/>
          <p:nvPr/>
        </p:nvSpPr>
        <p:spPr>
          <a:xfrm>
            <a:off x="1965960" y="3840480"/>
            <a:ext cx="8229600" cy="1005840"/>
          </a:xfrm>
          <a:prstGeom prst="rect">
            <a:avLst/>
          </a:prstGeom>
          <a:noFill/>
          <a:ln/>
        </p:spPr>
        <p:txBody>
          <a:bodyPr wrap="square" lIns="0" tIns="0" rIns="0" bIns="0" rtlCol="0" anchor="t"/>
          <a:lstStyle/>
          <a:p>
            <a:pPr algn="ctr" indent="0" marL="0">
              <a:lnSpc>
                <a:spcPct val="120000"/>
              </a:lnSpc>
              <a:buNone/>
            </a:pPr>
            <a:r>
              <a:rPr lang="en-US" sz="1400" dirty="0">
                <a:solidFill>
                  <a:srgbClr val="CADCFC"/>
                </a:solidFill>
                <a:latin typeface="Calibri" pitchFamily="34" charset="0"/>
                <a:ea typeface="Calibri" pitchFamily="34" charset="-122"/>
                <a:cs typeface="Calibri" pitchFamily="34" charset="-120"/>
              </a:rPr>
              <a:t>This is a concept for discussion with sales leadership and management. No budget, timeline, or sponsor is confirmed yet. Feedback and challenge are welcome before this becomes a funded initiative.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2026-09-16T14:29:03Z</dcterms:created>
  <dcterms:modified xsi:type="dcterms:W3CDTF">2026-09-16T14:29:03Z</dcterms:modified>
</cp:coreProperties>
</file>